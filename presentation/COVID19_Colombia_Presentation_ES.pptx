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51435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dRvwQtKa/3FceSlFhlJxfMDXK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34248C-8141-406D-B054-5F93D29DC862}">
  <a:tblStyle styleId="{5F34248C-8141-406D-B054-5F93D29DC8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Buenos días / Buenas tardes. Mi nombre es [nombre] y hoy voy a presentarles mi proyecto final de analítica de datos, cuyo objetivo es analizar la evolución del COVID-19 en Colombia a partir de una serie temporal, combinando un modelo epidemiológico SIR con un modelo de regresión lineal temporal para predecir la media móvil de casos nuevos. La exposición durará aproximadamente 20 minutos y al final tendremos unos minutos para preguntas.</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 presentación está organizada en once momentos. Empezamos con el problema de investigación y los datos, luego exploramos visualmente la serie, aplicamos el modelo SIR para interpretar la dinámica epidemiológica, pasamos al modelo de regresión para predecir casos futuros, hacemos una demostración en vivo del dashboard, y cerramos con limitaciones y conclusiones. Todo sigue una narrativa: del problema a la solución.</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 pregunta de investigación tiene dos dimensiones: por un lado, comprender cómo se propagó el virus en Colombia a lo largo del tiempo; por otro, evaluar si es posible predecir a corto plazo el número de casos nuevos. Para responder a esto usamos dos modelos distintos pero complementarios: el SIR para interpretar la dinámica y la regresión temporal para predecir. La validación se hace con una partición temporal, lo que es más riguroso que una validación aleatoria para series de tiempo.</a:t>
            </a:r>
            <a:endParaRPr/>
          </a:p>
        </p:txBody>
      </p:sp>
      <p:sp>
        <p:nvSpPr>
          <p:cNvPr id="68" name="Google Shape;6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Los datos provienen de Our World in Data y cubren la pandemia en Colombia. La variable que queremos predecir es la media móvil de siete días de casos nuevos, que suaviza el ruido del reporte diario. Las variables predictoras son rezagos de esa misma media móvil a distintos horizontes temporales, más los rezagos de pruebas diagnósticas. Incluir rezagos es clave porque los casos de hoy dependen fuertemente de los casos de días previos, capturando la inercia epidémica.</a:t>
            </a:r>
            <a:endParaRPr/>
          </a:p>
        </p:txBody>
      </p:sp>
      <p:sp>
        <p:nvSpPr>
          <p:cNvPr id="85" name="Google Shape;8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Antes de construir cualquier modelo, exploramos la serie. Identificamos múltiples olas de contagio, lo que ya nos adelanta que un modelo SIR de una sola ola va a ser una aproximación. También encontramos correlaciones muy fuertes entre la variable dependiente y sus propios rezagos, lo que es la base teórica del modelo de regresión con rezagos. El heatmap de correlación y el boxplot mensual que verán en el dashboard ilustran esto muy bien visualmente.</a:t>
            </a:r>
            <a:endParaRPr/>
          </a:p>
        </p:txBody>
      </p:sp>
      <p:sp>
        <p:nvSpPr>
          <p:cNvPr id="100" name="Google Shape;10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El modelo SIR divide la población en tres compartimentos: Susceptibles, Infectados y Recuperados. Las personas pasan de S a I a una tasa beta, que representa la transmisibilidad del virus, y de I a R a una tasa gamma, que es el inverso del periodo infeccioso. El parámetro más importante es R₀ = beta sobre gamma: si R₀ es mayor que 1, la epidemia crece; si es menor que 1, se contrae. Es un modelo determinista y de una sola ola, lo que representa una limitación que discutiremos más adelante.</a:t>
            </a:r>
            <a:endParaRPr/>
          </a:p>
        </p:txBody>
      </p:sp>
      <p:sp>
        <p:nvSpPr>
          <p:cNvPr id="126" name="Google Shape;12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Estos son los resultados del ajuste del modelo SIR sobre toda la serie colombiana. La beta de 0.078 indica la tasa diaria de contagio, y la gamma de 0.081 indica la tasa diaria de recuperación. El R₀ resultante de 0.966 es ligeramente inferior a 1, lo que indica que en el período global la epidemia estaba en proceso de contención. El pico de infectados activos ocurrió el 14 de junio de 2021 con más de 215 mil casos activos simultáneos. Es importante aclarar que el SIR modela una sola ola, así que representa un promedio de la pandemia completa, no cada ola individual.</a:t>
            </a:r>
            <a:endParaRPr/>
          </a:p>
        </p:txBody>
      </p:sp>
      <p:sp>
        <p:nvSpPr>
          <p:cNvPr id="167" name="Google Shape;16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El modelo de regresión predice la media móvil de siete días de casos nuevos a partir de sus propios valores pasados más las pruebas diagnósticas rezagadas. Incluir rezagos a 1, 7, 14 y 21 días captura la estructura de autocorrelación de la serie. La validación se hace con partición temporal: los primeros 80% de los datos entrenan el modelo y el 20% final lo pone a prueba. Esto es fundamental porque en series de tiempo no podemos mezclar datos futuros en el entrenamiento.</a:t>
            </a:r>
            <a:endParaRPr/>
          </a:p>
        </p:txBody>
      </p:sp>
      <p:sp>
        <p:nvSpPr>
          <p:cNvPr id="211" name="Google Shape;21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Las métricas del modelo en el conjunto de prueba son muy sólidas. El MAE de 51 casos significa que en promedio nos equivocamos en 51 casos diarios, lo cual es bajo considerando que los picos superan los 30 mil. El R² de 0.987 indica que el modelo explica casi el 99% de la varianza de la serie, y el MAPE de 2.73% es un error porcentual excelente. Estos resultados confirman que la estructura temporal de la serie por sí sola tiene un alto poder predictivo.</a:t>
            </a:r>
            <a:endParaRPr/>
          </a:p>
        </p:txBody>
      </p:sp>
      <p:sp>
        <p:nvSpPr>
          <p:cNvPr id="231" name="Google Shape;23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En este punto vamos a salir de las diapositivas para abrir el dashboard HTML del proyecto directamente en el navegador. El dashboard es una herramienta interactiva que integra todos los análisis que hemos discutido. Voy a mostrar cada sección: la evolución temporal, la incidencia suavizada, la comparación entre valores observados y predichos por el modelo, y los análisis estadísticos visuales. Los invito a que observen cómo los resultados que discutimos en las métricas se traducen visualmente.</a:t>
            </a:r>
            <a:endParaRPr/>
          </a:p>
        </p:txBody>
      </p:sp>
      <p:sp>
        <p:nvSpPr>
          <p:cNvPr id="266" name="Google Shape;26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Después de ver el dashboard, cerramos con los hallazgos más importantes que pudimos observar. El ajuste visual del modelo sobre los datos reales es muy notorio: la línea de predicción sigue muy de cerca la línea observada. El heatmap confirma la importancia del lag1 como predictor dominante. Y el boxplot mensual nos permite ver de forma muy clara los meses de mayor intensidad de la pandemia, con medianas y dispersión muy superiores en junio 2021.</a:t>
            </a:r>
            <a:endParaRPr/>
          </a:p>
        </p:txBody>
      </p:sp>
      <p:sp>
        <p:nvSpPr>
          <p:cNvPr id="281" name="Google Shape;28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Todo modelo tiene limitaciones y es importante reconocerlas con honestidad académica. El SIR es una simplificación que no captura la heterogeneidad real de la transmisión ni las múltiples olas. El subregistro afecta la calidad de los datos base. El modelo de regresión no incluye factores externos como vacunación o variantes del virus. Y aunque predice bien dentro del período estudiado, su capacidad de generalización a futuro es limitada sin actualización de datos.</a:t>
            </a:r>
            <a:endParaRPr/>
          </a:p>
        </p:txBody>
      </p:sp>
      <p:sp>
        <p:nvSpPr>
          <p:cNvPr id="305" name="Google Shape;30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Para cerrar: este proyecto demostró que es posible modelar e interpretar la pandemia en Colombia desde dos ángulos complementarios. El SIR nos da el lenguaje epidemiológico para hablar de transmisibilidad, recuperación y reproducción viral. La regresión con rezagos nos da la precisión cuantitativa para predecir casos a corto plazo. La principal conclusión es que la dinámica de casos tiene una estructura temporal muy fuerte, y que los datos pasados de la propia serie son predictores muy poderosos de su evolución futura. Gracias por su atención.</a:t>
            </a:r>
            <a:endParaRPr/>
          </a:p>
        </p:txBody>
      </p:sp>
      <p:sp>
        <p:nvSpPr>
          <p:cNvPr id="330" name="Google Shape;33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Esto concluye mi exposición. Para resumir en una frase: la pandemia de COVID-19 en Colombia muestra una estructura temporal muy fuerte que puede ser tanto interpretada con un modelo SIR como predicha con alta precisión usando regresión con rezagos temporales. Quedo abierto a preguntas. Si quieren profundizar en alguna parte del dashboard o en los resultados técnicos del modelo, con gusto lo mostramos.</a:t>
            </a:r>
            <a:endParaRPr/>
          </a:p>
        </p:txBody>
      </p:sp>
      <p:sp>
        <p:nvSpPr>
          <p:cNvPr id="352" name="Google Shape;35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11" name="Shape 11"/>
        <p:cNvGrpSpPr/>
        <p:nvPr/>
      </p:nvGrpSpPr>
      <p:grpSpPr>
        <a:xfrm>
          <a:off x="0" y="0"/>
          <a:ext cx="0" cy="0"/>
          <a:chOff x="0" y="0"/>
          <a:chExt cx="0" cy="0"/>
        </a:xfrm>
      </p:grpSpPr>
      <p:sp>
        <p:nvSpPr>
          <p:cNvPr id="12" name="Google Shape;12;p1"/>
          <p:cNvSpPr/>
          <p:nvPr/>
        </p:nvSpPr>
        <p:spPr>
          <a:xfrm>
            <a:off x="0" y="0"/>
            <a:ext cx="9144000" cy="1280160"/>
          </a:xfrm>
          <a:prstGeom prst="rect">
            <a:avLst/>
          </a:prstGeom>
          <a:solidFill>
            <a:srgbClr val="0A1929"/>
          </a:solidFill>
          <a:ln cap="flat" cmpd="sng" w="12700">
            <a:solidFill>
              <a:srgbClr val="0A19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0" y="0"/>
            <a:ext cx="164592" cy="514350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 name="Google Shape;14;p1"/>
          <p:cNvPicPr preferRelativeResize="0"/>
          <p:nvPr/>
        </p:nvPicPr>
        <p:blipFill rotWithShape="1">
          <a:blip r:embed="rId3">
            <a:alphaModFix/>
          </a:blip>
          <a:srcRect b="0" l="0" r="0" t="0"/>
          <a:stretch/>
        </p:blipFill>
        <p:spPr>
          <a:xfrm>
            <a:off x="7863840" y="274320"/>
            <a:ext cx="914400" cy="914400"/>
          </a:xfrm>
          <a:prstGeom prst="rect">
            <a:avLst/>
          </a:prstGeom>
          <a:noFill/>
          <a:ln>
            <a:noFill/>
          </a:ln>
        </p:spPr>
      </p:pic>
      <p:sp>
        <p:nvSpPr>
          <p:cNvPr id="15" name="Google Shape;15;p1"/>
          <p:cNvSpPr/>
          <p:nvPr/>
        </p:nvSpPr>
        <p:spPr>
          <a:xfrm>
            <a:off x="365760" y="1371600"/>
            <a:ext cx="84124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Análisis de la Evolución del COVID-19</a:t>
            </a:r>
            <a:endParaRPr b="0" i="0" sz="3000" u="none" cap="none" strike="noStrike">
              <a:solidFill>
                <a:schemeClr val="dk1"/>
              </a:solidFill>
              <a:latin typeface="Calibri"/>
              <a:ea typeface="Calibri"/>
              <a:cs typeface="Calibri"/>
              <a:sym typeface="Calibri"/>
            </a:endParaRPr>
          </a:p>
        </p:txBody>
      </p:sp>
      <p:sp>
        <p:nvSpPr>
          <p:cNvPr id="16" name="Google Shape;16;p1"/>
          <p:cNvSpPr/>
          <p:nvPr/>
        </p:nvSpPr>
        <p:spPr>
          <a:xfrm>
            <a:off x="365760" y="2011680"/>
            <a:ext cx="84124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CAE6"/>
              </a:buClr>
              <a:buSzPts val="2000"/>
              <a:buFont typeface="Trebuchet MS"/>
              <a:buNone/>
            </a:pPr>
            <a:r>
              <a:rPr b="0" i="0" lang="en-US" sz="2000" u="none" cap="none" strike="noStrike">
                <a:solidFill>
                  <a:srgbClr val="8ECAE6"/>
                </a:solidFill>
                <a:latin typeface="Trebuchet MS"/>
                <a:ea typeface="Trebuchet MS"/>
                <a:cs typeface="Trebuchet MS"/>
                <a:sym typeface="Trebuchet MS"/>
              </a:rPr>
              <a:t>en Colombia: Modelo SIR y Regresión Lineal Temporal</a:t>
            </a:r>
            <a:endParaRPr b="0" i="0" sz="2000" u="none" cap="none" strike="noStrike">
              <a:solidFill>
                <a:schemeClr val="dk1"/>
              </a:solidFill>
              <a:latin typeface="Calibri"/>
              <a:ea typeface="Calibri"/>
              <a:cs typeface="Calibri"/>
              <a:sym typeface="Calibri"/>
            </a:endParaRPr>
          </a:p>
        </p:txBody>
      </p:sp>
      <p:sp>
        <p:nvSpPr>
          <p:cNvPr id="17" name="Google Shape;17;p1"/>
          <p:cNvSpPr/>
          <p:nvPr/>
        </p:nvSpPr>
        <p:spPr>
          <a:xfrm>
            <a:off x="2286000" y="2606040"/>
            <a:ext cx="4572000" cy="36576"/>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65760" y="2788920"/>
            <a:ext cx="84124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400"/>
              <a:buFont typeface="Calibri"/>
              <a:buNone/>
            </a:pPr>
            <a:r>
              <a:rPr b="0" i="1" lang="en-US" sz="1400" u="none" cap="none" strike="noStrike">
                <a:solidFill>
                  <a:srgbClr val="CBD5E1"/>
                </a:solidFill>
                <a:latin typeface="Calibri"/>
                <a:ea typeface="Calibri"/>
                <a:cs typeface="Calibri"/>
                <a:sym typeface="Calibri"/>
              </a:rPr>
              <a:t>Proyecto Final de Healthech 2</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365760" y="3200400"/>
            <a:ext cx="841248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C7A95"/>
              </a:buClr>
              <a:buSzPts val="1200"/>
              <a:buFont typeface="Calibri"/>
              <a:buNone/>
            </a:pPr>
            <a:r>
              <a:rPr b="0" i="0" lang="en-US" sz="1200" u="none" cap="none" strike="noStrike">
                <a:solidFill>
                  <a:srgbClr val="5C7A95"/>
                </a:solidFill>
                <a:latin typeface="Calibri"/>
                <a:ea typeface="Calibri"/>
                <a:cs typeface="Calibri"/>
                <a:sym typeface="Calibri"/>
              </a:rPr>
              <a:t>Camilo Arias y Luna Lugo </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365760" y="3520440"/>
            <a:ext cx="841248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C7A95"/>
              </a:buClr>
              <a:buSzPts val="1200"/>
              <a:buFont typeface="Calibri"/>
              <a:buNone/>
            </a:pPr>
            <a:r>
              <a:rPr b="0" i="0" lang="en-US" sz="1200" u="none" cap="none" strike="noStrike">
                <a:solidFill>
                  <a:srgbClr val="5C7A95"/>
                </a:solidFill>
                <a:latin typeface="Calibri"/>
                <a:ea typeface="Calibri"/>
                <a:cs typeface="Calibri"/>
                <a:sym typeface="Calibri"/>
              </a:rPr>
              <a:t>Universidad Externado de Colombia</a:t>
            </a:r>
            <a:endParaRPr b="0" i="0" sz="1200" u="none" cap="none" strike="noStrike">
              <a:solidFill>
                <a:schemeClr val="dk1"/>
              </a:solidFill>
              <a:latin typeface="Calibri"/>
              <a:ea typeface="Calibri"/>
              <a:cs typeface="Calibri"/>
              <a:sym typeface="Calibri"/>
            </a:endParaRPr>
          </a:p>
        </p:txBody>
      </p:sp>
      <p:sp>
        <p:nvSpPr>
          <p:cNvPr id="21" name="Google Shape;21;p1"/>
          <p:cNvSpPr/>
          <p:nvPr/>
        </p:nvSpPr>
        <p:spPr>
          <a:xfrm>
            <a:off x="164592" y="4434840"/>
            <a:ext cx="8979408" cy="708660"/>
          </a:xfrm>
          <a:prstGeom prst="rect">
            <a:avLst/>
          </a:prstGeom>
          <a:solidFill>
            <a:srgbClr val="060E1A"/>
          </a:solidFill>
          <a:ln cap="flat" cmpd="sng" w="12700">
            <a:solidFill>
              <a:srgbClr val="06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274320" y="4526280"/>
            <a:ext cx="85953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6B8A"/>
              </a:buClr>
              <a:buSzPts val="1050"/>
              <a:buFont typeface="Calibri"/>
              <a:buNone/>
            </a:pPr>
            <a:r>
              <a:rPr b="0" i="0" lang="en-US" sz="1050" u="none" cap="none" strike="noStrike">
                <a:solidFill>
                  <a:srgbClr val="3A6B8A"/>
                </a:solidFill>
                <a:latin typeface="Calibri"/>
                <a:ea typeface="Calibri"/>
                <a:cs typeface="Calibri"/>
                <a:sym typeface="Calibri"/>
              </a:rPr>
              <a:t>Colombia · Serie Temporal · Epidemiología Computacional · Machine Learning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27" name="Shape 27"/>
        <p:cNvGrpSpPr/>
        <p:nvPr/>
      </p:nvGrpSpPr>
      <p:grpSpPr>
        <a:xfrm>
          <a:off x="0" y="0"/>
          <a:ext cx="0" cy="0"/>
          <a:chOff x="0" y="0"/>
          <a:chExt cx="0" cy="0"/>
        </a:xfrm>
      </p:grpSpPr>
      <p:sp>
        <p:nvSpPr>
          <p:cNvPr id="28" name="Google Shape;28;p2"/>
          <p:cNvSpPr/>
          <p:nvPr/>
        </p:nvSpPr>
        <p:spPr>
          <a:xfrm>
            <a:off x="0" y="0"/>
            <a:ext cx="164592" cy="5143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Agenda</a:t>
            </a:r>
            <a:endParaRPr sz="2200">
              <a:solidFill>
                <a:schemeClr val="dk1"/>
              </a:solidFill>
              <a:latin typeface="Calibri"/>
              <a:ea typeface="Calibri"/>
              <a:cs typeface="Calibri"/>
              <a:sym typeface="Calibri"/>
            </a:endParaRPr>
          </a:p>
        </p:txBody>
      </p:sp>
      <p:sp>
        <p:nvSpPr>
          <p:cNvPr id="30" name="Google Shape;30;p2"/>
          <p:cNvSpPr/>
          <p:nvPr/>
        </p:nvSpPr>
        <p:spPr>
          <a:xfrm>
            <a:off x="457200" y="804672"/>
            <a:ext cx="8229600" cy="27432"/>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1 / 14</a:t>
            </a:r>
            <a:endParaRPr sz="900">
              <a:solidFill>
                <a:schemeClr val="dk1"/>
              </a:solidFill>
              <a:latin typeface="Calibri"/>
              <a:ea typeface="Calibri"/>
              <a:cs typeface="Calibri"/>
              <a:sym typeface="Calibri"/>
            </a:endParaRPr>
          </a:p>
        </p:txBody>
      </p:sp>
      <p:sp>
        <p:nvSpPr>
          <p:cNvPr id="32" name="Google Shape;32;p2"/>
          <p:cNvSpPr/>
          <p:nvPr/>
        </p:nvSpPr>
        <p:spPr>
          <a:xfrm>
            <a:off x="365760" y="1005840"/>
            <a:ext cx="411480" cy="384048"/>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65760" y="1005840"/>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01</a:t>
            </a:r>
            <a:endParaRPr sz="1300">
              <a:solidFill>
                <a:schemeClr val="dk1"/>
              </a:solidFill>
              <a:latin typeface="Calibri"/>
              <a:ea typeface="Calibri"/>
              <a:cs typeface="Calibri"/>
              <a:sym typeface="Calibri"/>
            </a:endParaRPr>
          </a:p>
        </p:txBody>
      </p:sp>
      <p:sp>
        <p:nvSpPr>
          <p:cNvPr id="34" name="Google Shape;34;p2"/>
          <p:cNvSpPr/>
          <p:nvPr/>
        </p:nvSpPr>
        <p:spPr>
          <a:xfrm>
            <a:off x="841248" y="1051560"/>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Problema de investigación</a:t>
            </a:r>
            <a:endParaRPr sz="1200">
              <a:solidFill>
                <a:schemeClr val="dk1"/>
              </a:solidFill>
              <a:latin typeface="Calibri"/>
              <a:ea typeface="Calibri"/>
              <a:cs typeface="Calibri"/>
              <a:sym typeface="Calibri"/>
            </a:endParaRPr>
          </a:p>
        </p:txBody>
      </p:sp>
      <p:sp>
        <p:nvSpPr>
          <p:cNvPr id="35" name="Google Shape;35;p2"/>
          <p:cNvSpPr/>
          <p:nvPr/>
        </p:nvSpPr>
        <p:spPr>
          <a:xfrm>
            <a:off x="365760" y="1627632"/>
            <a:ext cx="411480" cy="384048"/>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65760" y="1627632"/>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02</a:t>
            </a:r>
            <a:endParaRPr sz="1300">
              <a:solidFill>
                <a:schemeClr val="dk1"/>
              </a:solidFill>
              <a:latin typeface="Calibri"/>
              <a:ea typeface="Calibri"/>
              <a:cs typeface="Calibri"/>
              <a:sym typeface="Calibri"/>
            </a:endParaRPr>
          </a:p>
        </p:txBody>
      </p:sp>
      <p:sp>
        <p:nvSpPr>
          <p:cNvPr id="37" name="Google Shape;37;p2"/>
          <p:cNvSpPr/>
          <p:nvPr/>
        </p:nvSpPr>
        <p:spPr>
          <a:xfrm>
            <a:off x="841248" y="1673352"/>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Base de datos y variables</a:t>
            </a:r>
            <a:endParaRPr sz="1200">
              <a:solidFill>
                <a:schemeClr val="dk1"/>
              </a:solidFill>
              <a:latin typeface="Calibri"/>
              <a:ea typeface="Calibri"/>
              <a:cs typeface="Calibri"/>
              <a:sym typeface="Calibri"/>
            </a:endParaRPr>
          </a:p>
        </p:txBody>
      </p:sp>
      <p:sp>
        <p:nvSpPr>
          <p:cNvPr id="38" name="Google Shape;38;p2"/>
          <p:cNvSpPr/>
          <p:nvPr/>
        </p:nvSpPr>
        <p:spPr>
          <a:xfrm>
            <a:off x="365760" y="2249424"/>
            <a:ext cx="411480" cy="384048"/>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65760" y="2249424"/>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03</a:t>
            </a:r>
            <a:endParaRPr sz="1300">
              <a:solidFill>
                <a:schemeClr val="dk1"/>
              </a:solidFill>
              <a:latin typeface="Calibri"/>
              <a:ea typeface="Calibri"/>
              <a:cs typeface="Calibri"/>
              <a:sym typeface="Calibri"/>
            </a:endParaRPr>
          </a:p>
        </p:txBody>
      </p:sp>
      <p:sp>
        <p:nvSpPr>
          <p:cNvPr id="40" name="Google Shape;40;p2"/>
          <p:cNvSpPr/>
          <p:nvPr/>
        </p:nvSpPr>
        <p:spPr>
          <a:xfrm>
            <a:off x="841248" y="2295144"/>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Análisis exploratorio</a:t>
            </a:r>
            <a:endParaRPr sz="1200">
              <a:solidFill>
                <a:schemeClr val="dk1"/>
              </a:solidFill>
              <a:latin typeface="Calibri"/>
              <a:ea typeface="Calibri"/>
              <a:cs typeface="Calibri"/>
              <a:sym typeface="Calibri"/>
            </a:endParaRPr>
          </a:p>
        </p:txBody>
      </p:sp>
      <p:sp>
        <p:nvSpPr>
          <p:cNvPr id="41" name="Google Shape;41;p2"/>
          <p:cNvSpPr/>
          <p:nvPr/>
        </p:nvSpPr>
        <p:spPr>
          <a:xfrm>
            <a:off x="365760" y="2871216"/>
            <a:ext cx="411480" cy="384048"/>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65760" y="2871216"/>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04</a:t>
            </a:r>
            <a:endParaRPr sz="1300">
              <a:solidFill>
                <a:schemeClr val="dk1"/>
              </a:solidFill>
              <a:latin typeface="Calibri"/>
              <a:ea typeface="Calibri"/>
              <a:cs typeface="Calibri"/>
              <a:sym typeface="Calibri"/>
            </a:endParaRPr>
          </a:p>
        </p:txBody>
      </p:sp>
      <p:sp>
        <p:nvSpPr>
          <p:cNvPr id="43" name="Google Shape;43;p2"/>
          <p:cNvSpPr/>
          <p:nvPr/>
        </p:nvSpPr>
        <p:spPr>
          <a:xfrm>
            <a:off x="841248" y="2916936"/>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Modelo SIR — Fundamentos</a:t>
            </a:r>
            <a:endParaRPr sz="1200">
              <a:solidFill>
                <a:schemeClr val="dk1"/>
              </a:solidFill>
              <a:latin typeface="Calibri"/>
              <a:ea typeface="Calibri"/>
              <a:cs typeface="Calibri"/>
              <a:sym typeface="Calibri"/>
            </a:endParaRPr>
          </a:p>
        </p:txBody>
      </p:sp>
      <p:sp>
        <p:nvSpPr>
          <p:cNvPr id="44" name="Google Shape;44;p2"/>
          <p:cNvSpPr/>
          <p:nvPr/>
        </p:nvSpPr>
        <p:spPr>
          <a:xfrm>
            <a:off x="365760" y="3493008"/>
            <a:ext cx="411480" cy="384048"/>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65760" y="3493008"/>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05</a:t>
            </a:r>
            <a:endParaRPr sz="1300">
              <a:solidFill>
                <a:schemeClr val="dk1"/>
              </a:solidFill>
              <a:latin typeface="Calibri"/>
              <a:ea typeface="Calibri"/>
              <a:cs typeface="Calibri"/>
              <a:sym typeface="Calibri"/>
            </a:endParaRPr>
          </a:p>
        </p:txBody>
      </p:sp>
      <p:sp>
        <p:nvSpPr>
          <p:cNvPr id="46" name="Google Shape;46;p2"/>
          <p:cNvSpPr/>
          <p:nvPr/>
        </p:nvSpPr>
        <p:spPr>
          <a:xfrm>
            <a:off x="841248" y="3538728"/>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Modelo SIR — Resultados</a:t>
            </a:r>
            <a:endParaRPr sz="1200">
              <a:solidFill>
                <a:schemeClr val="dk1"/>
              </a:solidFill>
              <a:latin typeface="Calibri"/>
              <a:ea typeface="Calibri"/>
              <a:cs typeface="Calibri"/>
              <a:sym typeface="Calibri"/>
            </a:endParaRPr>
          </a:p>
        </p:txBody>
      </p:sp>
      <p:sp>
        <p:nvSpPr>
          <p:cNvPr id="47" name="Google Shape;47;p2"/>
          <p:cNvSpPr/>
          <p:nvPr/>
        </p:nvSpPr>
        <p:spPr>
          <a:xfrm>
            <a:off x="365760" y="4114800"/>
            <a:ext cx="411480" cy="384048"/>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65760" y="4114800"/>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06</a:t>
            </a:r>
            <a:endParaRPr sz="1300">
              <a:solidFill>
                <a:schemeClr val="dk1"/>
              </a:solidFill>
              <a:latin typeface="Calibri"/>
              <a:ea typeface="Calibri"/>
              <a:cs typeface="Calibri"/>
              <a:sym typeface="Calibri"/>
            </a:endParaRPr>
          </a:p>
        </p:txBody>
      </p:sp>
      <p:sp>
        <p:nvSpPr>
          <p:cNvPr id="49" name="Google Shape;49;p2"/>
          <p:cNvSpPr/>
          <p:nvPr/>
        </p:nvSpPr>
        <p:spPr>
          <a:xfrm>
            <a:off x="841248" y="4160520"/>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Modelo predictivo: Regresión temporal</a:t>
            </a:r>
            <a:endParaRPr sz="1200">
              <a:solidFill>
                <a:schemeClr val="dk1"/>
              </a:solidFill>
              <a:latin typeface="Calibri"/>
              <a:ea typeface="Calibri"/>
              <a:cs typeface="Calibri"/>
              <a:sym typeface="Calibri"/>
            </a:endParaRPr>
          </a:p>
        </p:txBody>
      </p:sp>
      <p:sp>
        <p:nvSpPr>
          <p:cNvPr id="50" name="Google Shape;50;p2"/>
          <p:cNvSpPr/>
          <p:nvPr/>
        </p:nvSpPr>
        <p:spPr>
          <a:xfrm>
            <a:off x="4754880" y="1005840"/>
            <a:ext cx="411480" cy="384048"/>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754880" y="1005840"/>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07</a:t>
            </a:r>
            <a:endParaRPr sz="1300">
              <a:solidFill>
                <a:schemeClr val="dk1"/>
              </a:solidFill>
              <a:latin typeface="Calibri"/>
              <a:ea typeface="Calibri"/>
              <a:cs typeface="Calibri"/>
              <a:sym typeface="Calibri"/>
            </a:endParaRPr>
          </a:p>
        </p:txBody>
      </p:sp>
      <p:sp>
        <p:nvSpPr>
          <p:cNvPr id="52" name="Google Shape;52;p2"/>
          <p:cNvSpPr/>
          <p:nvPr/>
        </p:nvSpPr>
        <p:spPr>
          <a:xfrm>
            <a:off x="5230368" y="1051560"/>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Métricas de validación</a:t>
            </a:r>
            <a:endParaRPr sz="1200">
              <a:solidFill>
                <a:schemeClr val="dk1"/>
              </a:solidFill>
              <a:latin typeface="Calibri"/>
              <a:ea typeface="Calibri"/>
              <a:cs typeface="Calibri"/>
              <a:sym typeface="Calibri"/>
            </a:endParaRPr>
          </a:p>
        </p:txBody>
      </p:sp>
      <p:sp>
        <p:nvSpPr>
          <p:cNvPr id="53" name="Google Shape;53;p2"/>
          <p:cNvSpPr/>
          <p:nvPr/>
        </p:nvSpPr>
        <p:spPr>
          <a:xfrm>
            <a:off x="4754880" y="1627632"/>
            <a:ext cx="411480" cy="384048"/>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4754880" y="1627632"/>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08</a:t>
            </a:r>
            <a:endParaRPr sz="1300">
              <a:solidFill>
                <a:schemeClr val="dk1"/>
              </a:solidFill>
              <a:latin typeface="Calibri"/>
              <a:ea typeface="Calibri"/>
              <a:cs typeface="Calibri"/>
              <a:sym typeface="Calibri"/>
            </a:endParaRPr>
          </a:p>
        </p:txBody>
      </p:sp>
      <p:sp>
        <p:nvSpPr>
          <p:cNvPr id="55" name="Google Shape;55;p2"/>
          <p:cNvSpPr/>
          <p:nvPr/>
        </p:nvSpPr>
        <p:spPr>
          <a:xfrm>
            <a:off x="5230368" y="1673352"/>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Dashboard en vivo</a:t>
            </a:r>
            <a:endParaRPr sz="1200">
              <a:solidFill>
                <a:schemeClr val="dk1"/>
              </a:solidFill>
              <a:latin typeface="Calibri"/>
              <a:ea typeface="Calibri"/>
              <a:cs typeface="Calibri"/>
              <a:sym typeface="Calibri"/>
            </a:endParaRPr>
          </a:p>
        </p:txBody>
      </p:sp>
      <p:sp>
        <p:nvSpPr>
          <p:cNvPr id="56" name="Google Shape;56;p2"/>
          <p:cNvSpPr/>
          <p:nvPr/>
        </p:nvSpPr>
        <p:spPr>
          <a:xfrm>
            <a:off x="4754880" y="2249424"/>
            <a:ext cx="411480" cy="384048"/>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4754880" y="2249424"/>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09</a:t>
            </a:r>
            <a:endParaRPr sz="1300">
              <a:solidFill>
                <a:schemeClr val="dk1"/>
              </a:solidFill>
              <a:latin typeface="Calibri"/>
              <a:ea typeface="Calibri"/>
              <a:cs typeface="Calibri"/>
              <a:sym typeface="Calibri"/>
            </a:endParaRPr>
          </a:p>
        </p:txBody>
      </p:sp>
      <p:sp>
        <p:nvSpPr>
          <p:cNvPr id="58" name="Google Shape;58;p2"/>
          <p:cNvSpPr/>
          <p:nvPr/>
        </p:nvSpPr>
        <p:spPr>
          <a:xfrm>
            <a:off x="5230368" y="2295144"/>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Hallazgos del dashboard</a:t>
            </a:r>
            <a:endParaRPr sz="1200">
              <a:solidFill>
                <a:schemeClr val="dk1"/>
              </a:solidFill>
              <a:latin typeface="Calibri"/>
              <a:ea typeface="Calibri"/>
              <a:cs typeface="Calibri"/>
              <a:sym typeface="Calibri"/>
            </a:endParaRPr>
          </a:p>
        </p:txBody>
      </p:sp>
      <p:sp>
        <p:nvSpPr>
          <p:cNvPr id="59" name="Google Shape;59;p2"/>
          <p:cNvSpPr/>
          <p:nvPr/>
        </p:nvSpPr>
        <p:spPr>
          <a:xfrm>
            <a:off x="4754880" y="2871216"/>
            <a:ext cx="411480" cy="384048"/>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4754880" y="2871216"/>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10</a:t>
            </a:r>
            <a:endParaRPr sz="1300">
              <a:solidFill>
                <a:schemeClr val="dk1"/>
              </a:solidFill>
              <a:latin typeface="Calibri"/>
              <a:ea typeface="Calibri"/>
              <a:cs typeface="Calibri"/>
              <a:sym typeface="Calibri"/>
            </a:endParaRPr>
          </a:p>
        </p:txBody>
      </p:sp>
      <p:sp>
        <p:nvSpPr>
          <p:cNvPr id="61" name="Google Shape;61;p2"/>
          <p:cNvSpPr/>
          <p:nvPr/>
        </p:nvSpPr>
        <p:spPr>
          <a:xfrm>
            <a:off x="5230368" y="2916936"/>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Limitaciones</a:t>
            </a:r>
            <a:endParaRPr sz="1200">
              <a:solidFill>
                <a:schemeClr val="dk1"/>
              </a:solidFill>
              <a:latin typeface="Calibri"/>
              <a:ea typeface="Calibri"/>
              <a:cs typeface="Calibri"/>
              <a:sym typeface="Calibri"/>
            </a:endParaRPr>
          </a:p>
        </p:txBody>
      </p:sp>
      <p:sp>
        <p:nvSpPr>
          <p:cNvPr id="62" name="Google Shape;62;p2"/>
          <p:cNvSpPr/>
          <p:nvPr/>
        </p:nvSpPr>
        <p:spPr>
          <a:xfrm>
            <a:off x="4754880" y="3493008"/>
            <a:ext cx="411480" cy="384048"/>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4754880" y="3493008"/>
            <a:ext cx="411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11</a:t>
            </a:r>
            <a:endParaRPr sz="1300">
              <a:solidFill>
                <a:schemeClr val="dk1"/>
              </a:solidFill>
              <a:latin typeface="Calibri"/>
              <a:ea typeface="Calibri"/>
              <a:cs typeface="Calibri"/>
              <a:sym typeface="Calibri"/>
            </a:endParaRPr>
          </a:p>
        </p:txBody>
      </p:sp>
      <p:sp>
        <p:nvSpPr>
          <p:cNvPr id="64" name="Google Shape;64;p2"/>
          <p:cNvSpPr/>
          <p:nvPr/>
        </p:nvSpPr>
        <p:spPr>
          <a:xfrm>
            <a:off x="5230368" y="3538728"/>
            <a:ext cx="3383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Conclusiones</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9" name="Shape 69"/>
        <p:cNvGrpSpPr/>
        <p:nvPr/>
      </p:nvGrpSpPr>
      <p:grpSpPr>
        <a:xfrm>
          <a:off x="0" y="0"/>
          <a:ext cx="0" cy="0"/>
          <a:chOff x="0" y="0"/>
          <a:chExt cx="0" cy="0"/>
        </a:xfrm>
      </p:grpSpPr>
      <p:sp>
        <p:nvSpPr>
          <p:cNvPr id="70" name="Google Shape;70;p3"/>
          <p:cNvSpPr/>
          <p:nvPr/>
        </p:nvSpPr>
        <p:spPr>
          <a:xfrm>
            <a:off x="0" y="0"/>
            <a:ext cx="9144000" cy="96012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137"/>
              </a:buClr>
              <a:buSzPts val="2200"/>
              <a:buFont typeface="Trebuchet MS"/>
              <a:buNone/>
            </a:pPr>
            <a:r>
              <a:rPr b="1" lang="en-US" sz="2200">
                <a:solidFill>
                  <a:srgbClr val="0D2137"/>
                </a:solidFill>
                <a:highlight>
                  <a:schemeClr val="lt1"/>
                </a:highlight>
                <a:latin typeface="Trebuchet MS"/>
                <a:ea typeface="Trebuchet MS"/>
                <a:cs typeface="Trebuchet MS"/>
                <a:sym typeface="Trebuchet MS"/>
              </a:rPr>
              <a:t>Problema de Investigación</a:t>
            </a:r>
            <a:endParaRPr sz="2200">
              <a:solidFill>
                <a:schemeClr val="dk1"/>
              </a:solidFill>
              <a:highlight>
                <a:schemeClr val="lt1"/>
              </a:highlight>
              <a:latin typeface="Calibri"/>
              <a:ea typeface="Calibri"/>
              <a:cs typeface="Calibri"/>
              <a:sym typeface="Calibri"/>
            </a:endParaRPr>
          </a:p>
        </p:txBody>
      </p:sp>
      <p:sp>
        <p:nvSpPr>
          <p:cNvPr id="72" name="Google Shape;72;p3"/>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2 / 14</a:t>
            </a:r>
            <a:endParaRPr sz="900">
              <a:solidFill>
                <a:schemeClr val="dk1"/>
              </a:solidFill>
              <a:latin typeface="Calibri"/>
              <a:ea typeface="Calibri"/>
              <a:cs typeface="Calibri"/>
              <a:sym typeface="Calibri"/>
            </a:endParaRPr>
          </a:p>
        </p:txBody>
      </p:sp>
      <p:pic>
        <p:nvPicPr>
          <p:cNvPr descr="preencoded.png" id="73" name="Google Shape;73;p3"/>
          <p:cNvPicPr preferRelativeResize="0"/>
          <p:nvPr/>
        </p:nvPicPr>
        <p:blipFill rotWithShape="1">
          <a:blip r:embed="rId3">
            <a:alphaModFix/>
          </a:blip>
          <a:srcRect b="0" l="0" r="0" t="0"/>
          <a:stretch/>
        </p:blipFill>
        <p:spPr>
          <a:xfrm>
            <a:off x="7498080" y="1097280"/>
            <a:ext cx="1280160" cy="1280160"/>
          </a:xfrm>
          <a:prstGeom prst="rect">
            <a:avLst/>
          </a:prstGeom>
          <a:noFill/>
          <a:ln>
            <a:noFill/>
          </a:ln>
        </p:spPr>
      </p:pic>
      <p:sp>
        <p:nvSpPr>
          <p:cNvPr id="74" name="Google Shape;74;p3"/>
          <p:cNvSpPr/>
          <p:nvPr/>
        </p:nvSpPr>
        <p:spPr>
          <a:xfrm>
            <a:off x="457200" y="1005840"/>
            <a:ext cx="68580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550"/>
              <a:buFont typeface="Trebuchet MS"/>
              <a:buNone/>
            </a:pPr>
            <a:r>
              <a:rPr b="1" i="1" lang="en-US" sz="1550">
                <a:solidFill>
                  <a:srgbClr val="0D2137"/>
                </a:solidFill>
                <a:latin typeface="Trebuchet MS"/>
                <a:ea typeface="Trebuchet MS"/>
                <a:cs typeface="Trebuchet MS"/>
                <a:sym typeface="Trebuchet MS"/>
              </a:rPr>
              <a:t>¿Cuál fue la dinámica de transmisión del COVID-19 en Colombia y es posible predecir su evolución a corto plazo?</a:t>
            </a:r>
            <a:endParaRPr sz="1550">
              <a:solidFill>
                <a:schemeClr val="dk1"/>
              </a:solidFill>
              <a:latin typeface="Calibri"/>
              <a:ea typeface="Calibri"/>
              <a:cs typeface="Calibri"/>
              <a:sym typeface="Calibri"/>
            </a:endParaRPr>
          </a:p>
        </p:txBody>
      </p:sp>
      <p:sp>
        <p:nvSpPr>
          <p:cNvPr id="75" name="Google Shape;75;p3"/>
          <p:cNvSpPr/>
          <p:nvPr/>
        </p:nvSpPr>
        <p:spPr>
          <a:xfrm>
            <a:off x="457200" y="1828800"/>
            <a:ext cx="8229600" cy="36576"/>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457200" y="196596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300"/>
              <a:buFont typeface="Trebuchet MS"/>
              <a:buNone/>
            </a:pPr>
            <a:r>
              <a:rPr b="1" lang="en-US" sz="1300">
                <a:solidFill>
                  <a:srgbClr val="1565C0"/>
                </a:solidFill>
                <a:latin typeface="Trebuchet MS"/>
                <a:ea typeface="Trebuchet MS"/>
                <a:cs typeface="Trebuchet MS"/>
                <a:sym typeface="Trebuchet MS"/>
              </a:rPr>
              <a:t>Contexto</a:t>
            </a:r>
            <a:endParaRPr sz="1300">
              <a:solidFill>
                <a:schemeClr val="dk1"/>
              </a:solidFill>
              <a:latin typeface="Calibri"/>
              <a:ea typeface="Calibri"/>
              <a:cs typeface="Calibri"/>
              <a:sym typeface="Calibri"/>
            </a:endParaRPr>
          </a:p>
        </p:txBody>
      </p:sp>
      <p:sp>
        <p:nvSpPr>
          <p:cNvPr id="77" name="Google Shape;77;p3"/>
          <p:cNvSpPr/>
          <p:nvPr/>
        </p:nvSpPr>
        <p:spPr>
          <a:xfrm>
            <a:off x="457200" y="2331720"/>
            <a:ext cx="3840480" cy="11887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Pandemia de alcance global con impacto crítico en Colombia</a:t>
            </a:r>
            <a:endParaRPr sz="1200">
              <a:solidFill>
                <a:schemeClr val="dk1"/>
              </a:solidFill>
              <a:latin typeface="Calibri"/>
              <a:ea typeface="Calibri"/>
              <a:cs typeface="Calibri"/>
              <a:sym typeface="Calibri"/>
            </a:endParaRPr>
          </a:p>
          <a:p>
            <a:pPr indent="-342900" lvl="0" marL="342900" marR="0" rtl="0" algn="l">
              <a:spcBef>
                <a:spcPts val="40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Necesidad de modelos que expliquen Y predigan la transmisión</a:t>
            </a:r>
            <a:endParaRPr sz="1200">
              <a:solidFill>
                <a:schemeClr val="dk1"/>
              </a:solidFill>
              <a:latin typeface="Calibri"/>
              <a:ea typeface="Calibri"/>
              <a:cs typeface="Calibri"/>
              <a:sym typeface="Calibri"/>
            </a:endParaRPr>
          </a:p>
          <a:p>
            <a:pPr indent="-342900" lvl="0" marL="342900" marR="0" rtl="0" algn="l">
              <a:spcBef>
                <a:spcPts val="40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Disponibilidad de series temporales ricas en datos epidemiológicos</a:t>
            </a:r>
            <a:endParaRPr sz="1200">
              <a:solidFill>
                <a:schemeClr val="dk1"/>
              </a:solidFill>
              <a:latin typeface="Calibri"/>
              <a:ea typeface="Calibri"/>
              <a:cs typeface="Calibri"/>
              <a:sym typeface="Calibri"/>
            </a:endParaRPr>
          </a:p>
        </p:txBody>
      </p:sp>
      <p:sp>
        <p:nvSpPr>
          <p:cNvPr id="78" name="Google Shape;78;p3"/>
          <p:cNvSpPr/>
          <p:nvPr/>
        </p:nvSpPr>
        <p:spPr>
          <a:xfrm>
            <a:off x="4754880" y="1965960"/>
            <a:ext cx="39319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897B"/>
              </a:buClr>
              <a:buSzPts val="1300"/>
              <a:buFont typeface="Trebuchet MS"/>
              <a:buNone/>
            </a:pPr>
            <a:r>
              <a:rPr b="1" lang="en-US" sz="1300">
                <a:solidFill>
                  <a:srgbClr val="00897B"/>
                </a:solidFill>
                <a:latin typeface="Trebuchet MS"/>
                <a:ea typeface="Trebuchet MS"/>
                <a:cs typeface="Trebuchet MS"/>
                <a:sym typeface="Trebuchet MS"/>
              </a:rPr>
              <a:t>Objetivos</a:t>
            </a:r>
            <a:endParaRPr sz="1300">
              <a:solidFill>
                <a:schemeClr val="dk1"/>
              </a:solidFill>
              <a:latin typeface="Calibri"/>
              <a:ea typeface="Calibri"/>
              <a:cs typeface="Calibri"/>
              <a:sym typeface="Calibri"/>
            </a:endParaRPr>
          </a:p>
        </p:txBody>
      </p:sp>
      <p:sp>
        <p:nvSpPr>
          <p:cNvPr id="79" name="Google Shape;79;p3"/>
          <p:cNvSpPr/>
          <p:nvPr/>
        </p:nvSpPr>
        <p:spPr>
          <a:xfrm>
            <a:off x="4754880" y="2331720"/>
            <a:ext cx="3931920" cy="11887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Modelar la dinámica de transmisión con el modelo SIR</a:t>
            </a:r>
            <a:endParaRPr sz="1200">
              <a:solidFill>
                <a:schemeClr val="dk1"/>
              </a:solidFill>
              <a:latin typeface="Calibri"/>
              <a:ea typeface="Calibri"/>
              <a:cs typeface="Calibri"/>
              <a:sym typeface="Calibri"/>
            </a:endParaRPr>
          </a:p>
          <a:p>
            <a:pPr indent="-342900" lvl="0" marL="342900" marR="0" rtl="0" algn="l">
              <a:spcBef>
                <a:spcPts val="40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Predecir la media móvil de 7 días de casos nuevos</a:t>
            </a:r>
            <a:endParaRPr sz="1200">
              <a:solidFill>
                <a:schemeClr val="dk1"/>
              </a:solidFill>
              <a:latin typeface="Calibri"/>
              <a:ea typeface="Calibri"/>
              <a:cs typeface="Calibri"/>
              <a:sym typeface="Calibri"/>
            </a:endParaRPr>
          </a:p>
          <a:p>
            <a:pPr indent="-342900" lvl="0" marL="342900" marR="0" rtl="0" algn="l">
              <a:spcBef>
                <a:spcPts val="40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Validar el modelo predictivo con partición temporal 80/20</a:t>
            </a:r>
            <a:endParaRPr sz="1200">
              <a:solidFill>
                <a:schemeClr val="dk1"/>
              </a:solidFill>
              <a:latin typeface="Calibri"/>
              <a:ea typeface="Calibri"/>
              <a:cs typeface="Calibri"/>
              <a:sym typeface="Calibri"/>
            </a:endParaRPr>
          </a:p>
        </p:txBody>
      </p:sp>
      <p:sp>
        <p:nvSpPr>
          <p:cNvPr id="80" name="Google Shape;80;p3"/>
          <p:cNvSpPr/>
          <p:nvPr/>
        </p:nvSpPr>
        <p:spPr>
          <a:xfrm>
            <a:off x="457200" y="3703320"/>
            <a:ext cx="8229600" cy="749808"/>
          </a:xfrm>
          <a:prstGeom prst="rect">
            <a:avLst/>
          </a:prstGeom>
          <a:solidFill>
            <a:srgbClr val="E3F2FD"/>
          </a:solidFill>
          <a:ln cap="flat" cmpd="sng" w="12700">
            <a:solidFill>
              <a:srgbClr val="90CA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94360" y="3767328"/>
            <a:ext cx="795528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2137"/>
              </a:buClr>
              <a:buSzPts val="1250"/>
              <a:buFont typeface="Calibri"/>
              <a:buNone/>
            </a:pPr>
            <a:r>
              <a:rPr i="1" lang="en-US" sz="1250">
                <a:solidFill>
                  <a:srgbClr val="0D2137"/>
                </a:solidFill>
                <a:latin typeface="Calibri"/>
                <a:ea typeface="Calibri"/>
                <a:cs typeface="Calibri"/>
                <a:sym typeface="Calibri"/>
              </a:rPr>
              <a:t>Dos enfoques complementarios: interpretación epidemiológica (SIR) + capacidad predictiva (regresión temporal)</a:t>
            </a:r>
            <a:endParaRPr sz="12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6" name="Shape 86"/>
        <p:cNvGrpSpPr/>
        <p:nvPr/>
      </p:nvGrpSpPr>
      <p:grpSpPr>
        <a:xfrm>
          <a:off x="0" y="0"/>
          <a:ext cx="0" cy="0"/>
          <a:chOff x="0" y="0"/>
          <a:chExt cx="0" cy="0"/>
        </a:xfrm>
      </p:grpSpPr>
      <p:sp>
        <p:nvSpPr>
          <p:cNvPr id="87" name="Google Shape;87;p4"/>
          <p:cNvSpPr/>
          <p:nvPr/>
        </p:nvSpPr>
        <p:spPr>
          <a:xfrm>
            <a:off x="0" y="0"/>
            <a:ext cx="9144000" cy="96012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1"/>
              </a:highlight>
            </a:endParaRPr>
          </a:p>
        </p:txBody>
      </p:sp>
      <p:sp>
        <p:nvSpPr>
          <p:cNvPr id="88" name="Google Shape;88;p4"/>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137"/>
              </a:buClr>
              <a:buSzPts val="2200"/>
              <a:buFont typeface="Trebuchet MS"/>
              <a:buNone/>
            </a:pPr>
            <a:r>
              <a:rPr b="1" lang="en-US" sz="2200">
                <a:solidFill>
                  <a:srgbClr val="0D2137"/>
                </a:solidFill>
                <a:highlight>
                  <a:schemeClr val="lt1"/>
                </a:highlight>
                <a:latin typeface="Trebuchet MS"/>
                <a:ea typeface="Trebuchet MS"/>
                <a:cs typeface="Trebuchet MS"/>
                <a:sym typeface="Trebuchet MS"/>
              </a:rPr>
              <a:t>Base de Datos y Variables</a:t>
            </a:r>
            <a:endParaRPr sz="2200">
              <a:solidFill>
                <a:schemeClr val="dk1"/>
              </a:solidFill>
              <a:highlight>
                <a:schemeClr val="lt1"/>
              </a:highlight>
              <a:latin typeface="Calibri"/>
              <a:ea typeface="Calibri"/>
              <a:cs typeface="Calibri"/>
              <a:sym typeface="Calibri"/>
            </a:endParaRPr>
          </a:p>
        </p:txBody>
      </p:sp>
      <p:sp>
        <p:nvSpPr>
          <p:cNvPr id="89" name="Google Shape;89;p4"/>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3 / 14</a:t>
            </a:r>
            <a:endParaRPr sz="900">
              <a:solidFill>
                <a:schemeClr val="dk1"/>
              </a:solidFill>
              <a:latin typeface="Calibri"/>
              <a:ea typeface="Calibri"/>
              <a:cs typeface="Calibri"/>
              <a:sym typeface="Calibri"/>
            </a:endParaRPr>
          </a:p>
        </p:txBody>
      </p:sp>
      <p:pic>
        <p:nvPicPr>
          <p:cNvPr descr="preencoded.png" id="90" name="Google Shape;90;p4"/>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91" name="Google Shape;91;p4"/>
          <p:cNvSpPr/>
          <p:nvPr/>
        </p:nvSpPr>
        <p:spPr>
          <a:xfrm>
            <a:off x="457200" y="1024128"/>
            <a:ext cx="8229600" cy="566928"/>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548640" y="1051560"/>
            <a:ext cx="804672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Fuente: Our World in Data / OWID · Serie temporal diaria · País: Colombia</a:t>
            </a:r>
            <a:endParaRPr sz="1200">
              <a:solidFill>
                <a:schemeClr val="dk1"/>
              </a:solidFill>
              <a:latin typeface="Calibri"/>
              <a:ea typeface="Calibri"/>
              <a:cs typeface="Calibri"/>
              <a:sym typeface="Calibri"/>
            </a:endParaRPr>
          </a:p>
        </p:txBody>
      </p:sp>
      <p:sp>
        <p:nvSpPr>
          <p:cNvPr id="93" name="Google Shape;93;p4"/>
          <p:cNvSpPr/>
          <p:nvPr/>
        </p:nvSpPr>
        <p:spPr>
          <a:xfrm>
            <a:off x="457200" y="1737360"/>
            <a:ext cx="32918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300"/>
              <a:buFont typeface="Trebuchet MS"/>
              <a:buNone/>
            </a:pPr>
            <a:r>
              <a:rPr b="1" lang="en-US" sz="1300">
                <a:solidFill>
                  <a:srgbClr val="1565C0"/>
                </a:solidFill>
                <a:latin typeface="Trebuchet MS"/>
                <a:ea typeface="Trebuchet MS"/>
                <a:cs typeface="Trebuchet MS"/>
                <a:sym typeface="Trebuchet MS"/>
              </a:rPr>
              <a:t>Descripción</a:t>
            </a:r>
            <a:endParaRPr sz="1300">
              <a:solidFill>
                <a:schemeClr val="dk1"/>
              </a:solidFill>
              <a:latin typeface="Calibri"/>
              <a:ea typeface="Calibri"/>
              <a:cs typeface="Calibri"/>
              <a:sym typeface="Calibri"/>
            </a:endParaRPr>
          </a:p>
        </p:txBody>
      </p:sp>
      <p:sp>
        <p:nvSpPr>
          <p:cNvPr id="94" name="Google Shape;94;p4"/>
          <p:cNvSpPr/>
          <p:nvPr/>
        </p:nvSpPr>
        <p:spPr>
          <a:xfrm>
            <a:off x="457200" y="2103120"/>
            <a:ext cx="329184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B42"/>
              </a:buClr>
              <a:buSzPts val="1150"/>
              <a:buFont typeface="Calibri"/>
              <a:buChar char="•"/>
            </a:pPr>
            <a:r>
              <a:rPr lang="en-US" sz="1150">
                <a:solidFill>
                  <a:srgbClr val="1A2B42"/>
                </a:solidFill>
                <a:latin typeface="Calibri"/>
                <a:ea typeface="Calibri"/>
                <a:cs typeface="Calibri"/>
                <a:sym typeface="Calibri"/>
              </a:rPr>
              <a:t>Cobertura temporal: 2020 – 2022</a:t>
            </a:r>
            <a:endParaRPr sz="1150">
              <a:solidFill>
                <a:schemeClr val="dk1"/>
              </a:solidFill>
              <a:latin typeface="Calibri"/>
              <a:ea typeface="Calibri"/>
              <a:cs typeface="Calibri"/>
              <a:sym typeface="Calibri"/>
            </a:endParaRPr>
          </a:p>
          <a:p>
            <a:pPr indent="-342900" lvl="0" marL="342900" marR="0" rtl="0" algn="l">
              <a:spcBef>
                <a:spcPts val="500"/>
              </a:spcBef>
              <a:spcAft>
                <a:spcPts val="0"/>
              </a:spcAft>
              <a:buClr>
                <a:srgbClr val="1A2B42"/>
              </a:buClr>
              <a:buSzPts val="1150"/>
              <a:buFont typeface="Calibri"/>
              <a:buChar char="•"/>
            </a:pPr>
            <a:r>
              <a:rPr lang="en-US" sz="1150">
                <a:solidFill>
                  <a:srgbClr val="1A2B42"/>
                </a:solidFill>
                <a:latin typeface="Calibri"/>
                <a:ea typeface="Calibri"/>
                <a:cs typeface="Calibri"/>
                <a:sym typeface="Calibri"/>
              </a:rPr>
              <a:t>Frecuencia: datos diarios</a:t>
            </a:r>
            <a:endParaRPr sz="1150">
              <a:solidFill>
                <a:schemeClr val="dk1"/>
              </a:solidFill>
              <a:latin typeface="Calibri"/>
              <a:ea typeface="Calibri"/>
              <a:cs typeface="Calibri"/>
              <a:sym typeface="Calibri"/>
            </a:endParaRPr>
          </a:p>
          <a:p>
            <a:pPr indent="-342900" lvl="0" marL="342900" marR="0" rtl="0" algn="l">
              <a:spcBef>
                <a:spcPts val="500"/>
              </a:spcBef>
              <a:spcAft>
                <a:spcPts val="0"/>
              </a:spcAft>
              <a:buClr>
                <a:srgbClr val="1A2B42"/>
              </a:buClr>
              <a:buSzPts val="1150"/>
              <a:buFont typeface="Calibri"/>
              <a:buChar char="•"/>
            </a:pPr>
            <a:r>
              <a:rPr lang="en-US" sz="1150">
                <a:solidFill>
                  <a:srgbClr val="1A2B42"/>
                </a:solidFill>
                <a:latin typeface="Calibri"/>
                <a:ea typeface="Calibri"/>
                <a:cs typeface="Calibri"/>
                <a:sym typeface="Calibri"/>
              </a:rPr>
              <a:t>Casos totales confirmados: 5,107,323</a:t>
            </a:r>
            <a:endParaRPr sz="1150">
              <a:solidFill>
                <a:schemeClr val="dk1"/>
              </a:solidFill>
              <a:latin typeface="Calibri"/>
              <a:ea typeface="Calibri"/>
              <a:cs typeface="Calibri"/>
              <a:sym typeface="Calibri"/>
            </a:endParaRPr>
          </a:p>
          <a:p>
            <a:pPr indent="-342900" lvl="0" marL="342900" marR="0" rtl="0" algn="l">
              <a:spcBef>
                <a:spcPts val="500"/>
              </a:spcBef>
              <a:spcAft>
                <a:spcPts val="0"/>
              </a:spcAft>
              <a:buClr>
                <a:srgbClr val="1A2B42"/>
              </a:buClr>
              <a:buSzPts val="1150"/>
              <a:buFont typeface="Calibri"/>
              <a:buChar char="•"/>
            </a:pPr>
            <a:r>
              <a:rPr lang="en-US" sz="1150">
                <a:solidFill>
                  <a:srgbClr val="1A2B42"/>
                </a:solidFill>
                <a:latin typeface="Calibri"/>
                <a:ea typeface="Calibri"/>
                <a:cs typeface="Calibri"/>
                <a:sym typeface="Calibri"/>
              </a:rPr>
              <a:t>Variable dependiente del modelo final: new_cases_7d (media móvil de 7 días de casos nuevos)</a:t>
            </a:r>
            <a:endParaRPr sz="1150">
              <a:solidFill>
                <a:schemeClr val="dk1"/>
              </a:solidFill>
              <a:latin typeface="Calibri"/>
              <a:ea typeface="Calibri"/>
              <a:cs typeface="Calibri"/>
              <a:sym typeface="Calibri"/>
            </a:endParaRPr>
          </a:p>
        </p:txBody>
      </p:sp>
      <p:sp>
        <p:nvSpPr>
          <p:cNvPr id="95" name="Google Shape;95;p4"/>
          <p:cNvSpPr/>
          <p:nvPr/>
        </p:nvSpPr>
        <p:spPr>
          <a:xfrm>
            <a:off x="4114800" y="173736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897B"/>
              </a:buClr>
              <a:buSzPts val="1300"/>
              <a:buFont typeface="Trebuchet MS"/>
              <a:buNone/>
            </a:pPr>
            <a:r>
              <a:rPr b="1" lang="en-US" sz="1300">
                <a:solidFill>
                  <a:srgbClr val="00897B"/>
                </a:solidFill>
                <a:latin typeface="Trebuchet MS"/>
                <a:ea typeface="Trebuchet MS"/>
                <a:cs typeface="Trebuchet MS"/>
                <a:sym typeface="Trebuchet MS"/>
              </a:rPr>
              <a:t>Variables del modelo predictivo</a:t>
            </a:r>
            <a:endParaRPr sz="1300">
              <a:solidFill>
                <a:schemeClr val="dk1"/>
              </a:solidFill>
              <a:latin typeface="Calibri"/>
              <a:ea typeface="Calibri"/>
              <a:cs typeface="Calibri"/>
              <a:sym typeface="Calibri"/>
            </a:endParaRPr>
          </a:p>
        </p:txBody>
      </p:sp>
      <p:graphicFrame>
        <p:nvGraphicFramePr>
          <p:cNvPr id="96" name="Google Shape;96;p4"/>
          <p:cNvGraphicFramePr/>
          <p:nvPr/>
        </p:nvGraphicFramePr>
        <p:xfrm>
          <a:off x="4114800" y="2103120"/>
          <a:ext cx="3000000" cy="3000000"/>
        </p:xfrm>
        <a:graphic>
          <a:graphicData uri="http://schemas.openxmlformats.org/drawingml/2006/table">
            <a:tbl>
              <a:tblPr>
                <a:noFill/>
                <a:tableStyleId>{5F34248C-8141-406D-B054-5F93D29DC862}</a:tableStyleId>
              </a:tblPr>
              <a:tblGrid>
                <a:gridCol w="1524000"/>
                <a:gridCol w="1524000"/>
                <a:gridCol w="1524000"/>
              </a:tblGrid>
              <a:tr h="2939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Variable</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D2137"/>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Tipo</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D2137"/>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Descripción</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D2137"/>
                    </a:solidFill>
                  </a:tcPr>
                </a:tc>
              </a:tr>
              <a:tr h="293925">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cases7_lag1</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Rezago</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MM7 casos, t−1</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93925">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cases7_lag7</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Rezago</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MM7 casos, t−7</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93925">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cases7_lag14</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Rezago</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MM7 casos, t−14</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93925">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cases7_lag21</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Rezago</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MM7 casos, t−21</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93925">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tests7_lag1</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Pruebas</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MM7 pruebas, t−1</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93925">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tests7_lag7</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Pruebas</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latin typeface="Calibri"/>
                          <a:ea typeface="Calibri"/>
                          <a:cs typeface="Calibri"/>
                          <a:sym typeface="Calibri"/>
                        </a:rPr>
                        <a:t>MM7 pruebas, t−7</a:t>
                      </a:r>
                      <a:endParaRPr sz="10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1" name="Shape 101"/>
        <p:cNvGrpSpPr/>
        <p:nvPr/>
      </p:nvGrpSpPr>
      <p:grpSpPr>
        <a:xfrm>
          <a:off x="0" y="0"/>
          <a:ext cx="0" cy="0"/>
          <a:chOff x="0" y="0"/>
          <a:chExt cx="0" cy="0"/>
        </a:xfrm>
      </p:grpSpPr>
      <p:sp>
        <p:nvSpPr>
          <p:cNvPr id="102" name="Google Shape;102;p5"/>
          <p:cNvSpPr/>
          <p:nvPr/>
        </p:nvSpPr>
        <p:spPr>
          <a:xfrm>
            <a:off x="0" y="0"/>
            <a:ext cx="9144000" cy="96012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137"/>
              </a:buClr>
              <a:buSzPts val="2200"/>
              <a:buFont typeface="Trebuchet MS"/>
              <a:buNone/>
            </a:pPr>
            <a:r>
              <a:rPr b="1" lang="en-US" sz="2200">
                <a:solidFill>
                  <a:srgbClr val="0D2137"/>
                </a:solidFill>
                <a:highlight>
                  <a:schemeClr val="lt1"/>
                </a:highlight>
                <a:latin typeface="Trebuchet MS"/>
                <a:ea typeface="Trebuchet MS"/>
                <a:cs typeface="Trebuchet MS"/>
                <a:sym typeface="Trebuchet MS"/>
              </a:rPr>
              <a:t>Análisis Exploratorio de Datos (EDA)</a:t>
            </a:r>
            <a:endParaRPr sz="2200">
              <a:solidFill>
                <a:schemeClr val="dk1"/>
              </a:solidFill>
              <a:highlight>
                <a:schemeClr val="lt1"/>
              </a:highlight>
              <a:latin typeface="Calibri"/>
              <a:ea typeface="Calibri"/>
              <a:cs typeface="Calibri"/>
              <a:sym typeface="Calibri"/>
            </a:endParaRPr>
          </a:p>
        </p:txBody>
      </p:sp>
      <p:sp>
        <p:nvSpPr>
          <p:cNvPr id="104" name="Google Shape;104;p5"/>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4 / 14</a:t>
            </a:r>
            <a:endParaRPr sz="900">
              <a:solidFill>
                <a:schemeClr val="dk1"/>
              </a:solidFill>
              <a:latin typeface="Calibri"/>
              <a:ea typeface="Calibri"/>
              <a:cs typeface="Calibri"/>
              <a:sym typeface="Calibri"/>
            </a:endParaRPr>
          </a:p>
        </p:txBody>
      </p:sp>
      <p:pic>
        <p:nvPicPr>
          <p:cNvPr descr="preencoded.png" id="105" name="Google Shape;105;p5"/>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106" name="Google Shape;106;p5"/>
          <p:cNvSpPr/>
          <p:nvPr/>
        </p:nvSpPr>
        <p:spPr>
          <a:xfrm>
            <a:off x="365760" y="1051560"/>
            <a:ext cx="2651760" cy="256032"/>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365760" y="1051560"/>
            <a:ext cx="265176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Múltiples olas</a:t>
            </a:r>
            <a:endParaRPr sz="1100">
              <a:solidFill>
                <a:schemeClr val="dk1"/>
              </a:solidFill>
              <a:latin typeface="Calibri"/>
              <a:ea typeface="Calibri"/>
              <a:cs typeface="Calibri"/>
              <a:sym typeface="Calibri"/>
            </a:endParaRPr>
          </a:p>
        </p:txBody>
      </p:sp>
      <p:sp>
        <p:nvSpPr>
          <p:cNvPr id="108" name="Google Shape;108;p5"/>
          <p:cNvSpPr/>
          <p:nvPr/>
        </p:nvSpPr>
        <p:spPr>
          <a:xfrm>
            <a:off x="365760" y="1307592"/>
            <a:ext cx="2651760" cy="1371600"/>
          </a:xfrm>
          <a:prstGeom prst="rect">
            <a:avLst/>
          </a:prstGeom>
          <a:solidFill>
            <a:srgbClr val="EEF4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457200" y="1371600"/>
            <a:ext cx="2468880" cy="1261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La serie muestra 3–4 oleadas distintas de contagio, con picos en 2020, junio 2021 y enero 2022.</a:t>
            </a:r>
            <a:endParaRPr sz="1100">
              <a:solidFill>
                <a:schemeClr val="dk1"/>
              </a:solidFill>
              <a:latin typeface="Calibri"/>
              <a:ea typeface="Calibri"/>
              <a:cs typeface="Calibri"/>
              <a:sym typeface="Calibri"/>
            </a:endParaRPr>
          </a:p>
        </p:txBody>
      </p:sp>
      <p:sp>
        <p:nvSpPr>
          <p:cNvPr id="110" name="Google Shape;110;p5"/>
          <p:cNvSpPr/>
          <p:nvPr/>
        </p:nvSpPr>
        <p:spPr>
          <a:xfrm>
            <a:off x="3246120" y="1051560"/>
            <a:ext cx="2651760" cy="256032"/>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3246120" y="1051560"/>
            <a:ext cx="265176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Correlación alta</a:t>
            </a:r>
            <a:endParaRPr sz="1100">
              <a:solidFill>
                <a:schemeClr val="dk1"/>
              </a:solidFill>
              <a:latin typeface="Calibri"/>
              <a:ea typeface="Calibri"/>
              <a:cs typeface="Calibri"/>
              <a:sym typeface="Calibri"/>
            </a:endParaRPr>
          </a:p>
        </p:txBody>
      </p:sp>
      <p:sp>
        <p:nvSpPr>
          <p:cNvPr id="112" name="Google Shape;112;p5"/>
          <p:cNvSpPr/>
          <p:nvPr/>
        </p:nvSpPr>
        <p:spPr>
          <a:xfrm>
            <a:off x="3246120" y="1307592"/>
            <a:ext cx="2651760" cy="1371600"/>
          </a:xfrm>
          <a:prstGeom prst="rect">
            <a:avLst/>
          </a:prstGeom>
          <a:solidFill>
            <a:srgbClr val="EEF4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3337560" y="1371600"/>
            <a:ext cx="2468880" cy="1261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Los rezagos de 1, 7 y 14 días presentan correlación &gt; 0.85 con la variable dependiente.</a:t>
            </a:r>
            <a:endParaRPr sz="1100">
              <a:solidFill>
                <a:schemeClr val="dk1"/>
              </a:solidFill>
              <a:latin typeface="Calibri"/>
              <a:ea typeface="Calibri"/>
              <a:cs typeface="Calibri"/>
              <a:sym typeface="Calibri"/>
            </a:endParaRPr>
          </a:p>
        </p:txBody>
      </p:sp>
      <p:sp>
        <p:nvSpPr>
          <p:cNvPr id="114" name="Google Shape;114;p5"/>
          <p:cNvSpPr/>
          <p:nvPr/>
        </p:nvSpPr>
        <p:spPr>
          <a:xfrm>
            <a:off x="6126480" y="1051560"/>
            <a:ext cx="2651760" cy="256032"/>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6126480" y="1051560"/>
            <a:ext cx="265176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No estacionariedad</a:t>
            </a:r>
            <a:endParaRPr sz="1100">
              <a:solidFill>
                <a:schemeClr val="dk1"/>
              </a:solidFill>
              <a:latin typeface="Calibri"/>
              <a:ea typeface="Calibri"/>
              <a:cs typeface="Calibri"/>
              <a:sym typeface="Calibri"/>
            </a:endParaRPr>
          </a:p>
        </p:txBody>
      </p:sp>
      <p:sp>
        <p:nvSpPr>
          <p:cNvPr id="116" name="Google Shape;116;p5"/>
          <p:cNvSpPr/>
          <p:nvPr/>
        </p:nvSpPr>
        <p:spPr>
          <a:xfrm>
            <a:off x="6126480" y="1307592"/>
            <a:ext cx="2651760" cy="1371600"/>
          </a:xfrm>
          <a:prstGeom prst="rect">
            <a:avLst/>
          </a:prstGeom>
          <a:solidFill>
            <a:srgbClr val="EEF4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6217920" y="1371600"/>
            <a:ext cx="2468880" cy="1261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La serie original es no estacionaria; la media móvil de 7 días reduce el ruido de reporte.</a:t>
            </a:r>
            <a:endParaRPr sz="1100">
              <a:solidFill>
                <a:schemeClr val="dk1"/>
              </a:solidFill>
              <a:latin typeface="Calibri"/>
              <a:ea typeface="Calibri"/>
              <a:cs typeface="Calibri"/>
              <a:sym typeface="Calibri"/>
            </a:endParaRPr>
          </a:p>
        </p:txBody>
      </p:sp>
      <p:sp>
        <p:nvSpPr>
          <p:cNvPr id="118" name="Google Shape;118;p5"/>
          <p:cNvSpPr/>
          <p:nvPr/>
        </p:nvSpPr>
        <p:spPr>
          <a:xfrm>
            <a:off x="365760" y="283464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300"/>
              <a:buFont typeface="Trebuchet MS"/>
              <a:buNone/>
            </a:pPr>
            <a:r>
              <a:rPr b="1" lang="en-US" sz="1300">
                <a:solidFill>
                  <a:srgbClr val="0D2137"/>
                </a:solidFill>
                <a:latin typeface="Trebuchet MS"/>
                <a:ea typeface="Trebuchet MS"/>
                <a:cs typeface="Trebuchet MS"/>
                <a:sym typeface="Trebuchet MS"/>
              </a:rPr>
              <a:t>Hallazgos clave del EDA</a:t>
            </a:r>
            <a:endParaRPr sz="1300">
              <a:solidFill>
                <a:schemeClr val="dk1"/>
              </a:solidFill>
              <a:latin typeface="Calibri"/>
              <a:ea typeface="Calibri"/>
              <a:cs typeface="Calibri"/>
              <a:sym typeface="Calibri"/>
            </a:endParaRPr>
          </a:p>
        </p:txBody>
      </p:sp>
      <p:sp>
        <p:nvSpPr>
          <p:cNvPr id="119" name="Google Shape;119;p5"/>
          <p:cNvSpPr/>
          <p:nvPr/>
        </p:nvSpPr>
        <p:spPr>
          <a:xfrm>
            <a:off x="365760" y="3200400"/>
            <a:ext cx="4114800" cy="15544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Heatmap de correlación: variables con mayor peso predictivo son lag1, lag7 y tests7_lag1</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Boxplot mensual: varianza elevada durante los meses de pico (junio 2021)</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B42"/>
              </a:buClr>
              <a:buSzPts val="1200"/>
              <a:buFont typeface="Calibri"/>
              <a:buChar char="•"/>
            </a:pPr>
            <a:r>
              <a:rPr lang="en-US" sz="1200">
                <a:solidFill>
                  <a:srgbClr val="1A2B42"/>
                </a:solidFill>
                <a:latin typeface="Calibri"/>
                <a:ea typeface="Calibri"/>
                <a:cs typeface="Calibri"/>
                <a:sym typeface="Calibri"/>
              </a:rPr>
              <a:t>Distribución de casos nuevos diarios: asimétrica positiva, colas largas en picos</a:t>
            </a:r>
            <a:endParaRPr sz="1200">
              <a:solidFill>
                <a:schemeClr val="dk1"/>
              </a:solidFill>
              <a:latin typeface="Calibri"/>
              <a:ea typeface="Calibri"/>
              <a:cs typeface="Calibri"/>
              <a:sym typeface="Calibri"/>
            </a:endParaRPr>
          </a:p>
        </p:txBody>
      </p:sp>
      <p:sp>
        <p:nvSpPr>
          <p:cNvPr id="120" name="Google Shape;120;p5"/>
          <p:cNvSpPr/>
          <p:nvPr/>
        </p:nvSpPr>
        <p:spPr>
          <a:xfrm>
            <a:off x="4663440" y="2834640"/>
            <a:ext cx="4023360" cy="2011680"/>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754880" y="288036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200"/>
              <a:buFont typeface="Trebuchet MS"/>
              <a:buNone/>
            </a:pPr>
            <a:r>
              <a:rPr b="1" lang="en-US" sz="1200">
                <a:solidFill>
                  <a:srgbClr val="2E7D32"/>
                </a:solidFill>
                <a:latin typeface="Trebuchet MS"/>
                <a:ea typeface="Trebuchet MS"/>
                <a:cs typeface="Trebuchet MS"/>
                <a:sym typeface="Trebuchet MS"/>
              </a:rPr>
              <a:t>Motivación para los rezagos</a:t>
            </a:r>
            <a:endParaRPr sz="1200">
              <a:solidFill>
                <a:schemeClr val="dk1"/>
              </a:solidFill>
              <a:latin typeface="Calibri"/>
              <a:ea typeface="Calibri"/>
              <a:cs typeface="Calibri"/>
              <a:sym typeface="Calibri"/>
            </a:endParaRPr>
          </a:p>
        </p:txBody>
      </p:sp>
      <p:sp>
        <p:nvSpPr>
          <p:cNvPr id="122" name="Google Shape;122;p5"/>
          <p:cNvSpPr/>
          <p:nvPr/>
        </p:nvSpPr>
        <p:spPr>
          <a:xfrm>
            <a:off x="4754880" y="3218688"/>
            <a:ext cx="384048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50"/>
              <a:buFont typeface="Calibri"/>
              <a:buNone/>
            </a:pPr>
            <a:r>
              <a:rPr lang="en-US" sz="1150">
                <a:solidFill>
                  <a:srgbClr val="1A2B42"/>
                </a:solidFill>
                <a:latin typeface="Calibri"/>
                <a:ea typeface="Calibri"/>
                <a:cs typeface="Calibri"/>
                <a:sym typeface="Calibri"/>
              </a:rPr>
              <a:t>El análisis de autocorrelación confirma que la serie tiene dependencia temporal significativa hasta el rezago 21, lo que justifica incluir múltiples horizontes como variables predictoras en el modelo de regresión.</a:t>
            </a:r>
            <a:endParaRPr sz="11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127" name="Shape 127"/>
        <p:cNvGrpSpPr/>
        <p:nvPr/>
      </p:nvGrpSpPr>
      <p:grpSpPr>
        <a:xfrm>
          <a:off x="0" y="0"/>
          <a:ext cx="0" cy="0"/>
          <a:chOff x="0" y="0"/>
          <a:chExt cx="0" cy="0"/>
        </a:xfrm>
      </p:grpSpPr>
      <p:sp>
        <p:nvSpPr>
          <p:cNvPr id="128" name="Google Shape;128;p6"/>
          <p:cNvSpPr/>
          <p:nvPr/>
        </p:nvSpPr>
        <p:spPr>
          <a:xfrm>
            <a:off x="0" y="0"/>
            <a:ext cx="164592" cy="514350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Modelo SIR — Fundamentos Epidemiológicos</a:t>
            </a:r>
            <a:endParaRPr sz="2200">
              <a:solidFill>
                <a:schemeClr val="dk1"/>
              </a:solidFill>
              <a:latin typeface="Calibri"/>
              <a:ea typeface="Calibri"/>
              <a:cs typeface="Calibri"/>
              <a:sym typeface="Calibri"/>
            </a:endParaRPr>
          </a:p>
        </p:txBody>
      </p:sp>
      <p:sp>
        <p:nvSpPr>
          <p:cNvPr id="130" name="Google Shape;130;p6"/>
          <p:cNvSpPr/>
          <p:nvPr/>
        </p:nvSpPr>
        <p:spPr>
          <a:xfrm>
            <a:off x="457200" y="804672"/>
            <a:ext cx="8229600" cy="27432"/>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5 / 14</a:t>
            </a:r>
            <a:endParaRPr sz="900">
              <a:solidFill>
                <a:schemeClr val="dk1"/>
              </a:solidFill>
              <a:latin typeface="Calibri"/>
              <a:ea typeface="Calibri"/>
              <a:cs typeface="Calibri"/>
              <a:sym typeface="Calibri"/>
            </a:endParaRPr>
          </a:p>
        </p:txBody>
      </p:sp>
      <p:pic>
        <p:nvPicPr>
          <p:cNvPr descr="preencoded.png" id="132" name="Google Shape;132;p6"/>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133" name="Google Shape;133;p6"/>
          <p:cNvSpPr/>
          <p:nvPr/>
        </p:nvSpPr>
        <p:spPr>
          <a:xfrm>
            <a:off x="548640" y="960120"/>
            <a:ext cx="2514600" cy="2560320"/>
          </a:xfrm>
          <a:prstGeom prst="rect">
            <a:avLst/>
          </a:prstGeom>
          <a:solidFill>
            <a:srgbClr val="0A1929"/>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548640" y="960120"/>
            <a:ext cx="2514600" cy="411480"/>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548640" y="960120"/>
            <a:ext cx="25146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S</a:t>
            </a:r>
            <a:endParaRPr sz="2000">
              <a:solidFill>
                <a:schemeClr val="dk1"/>
              </a:solidFill>
              <a:latin typeface="Calibri"/>
              <a:ea typeface="Calibri"/>
              <a:cs typeface="Calibri"/>
              <a:sym typeface="Calibri"/>
            </a:endParaRPr>
          </a:p>
        </p:txBody>
      </p:sp>
      <p:sp>
        <p:nvSpPr>
          <p:cNvPr id="136" name="Google Shape;136;p6"/>
          <p:cNvSpPr/>
          <p:nvPr/>
        </p:nvSpPr>
        <p:spPr>
          <a:xfrm>
            <a:off x="640080" y="1426464"/>
            <a:ext cx="23317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Susceptibles</a:t>
            </a:r>
            <a:endParaRPr sz="1300">
              <a:solidFill>
                <a:schemeClr val="dk1"/>
              </a:solidFill>
              <a:latin typeface="Calibri"/>
              <a:ea typeface="Calibri"/>
              <a:cs typeface="Calibri"/>
              <a:sym typeface="Calibri"/>
            </a:endParaRPr>
          </a:p>
        </p:txBody>
      </p:sp>
      <p:sp>
        <p:nvSpPr>
          <p:cNvPr id="137" name="Google Shape;137;p6"/>
          <p:cNvSpPr/>
          <p:nvPr/>
        </p:nvSpPr>
        <p:spPr>
          <a:xfrm>
            <a:off x="658368" y="1810512"/>
            <a:ext cx="2295144"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50"/>
              <a:buFont typeface="Calibri"/>
              <a:buNone/>
            </a:pPr>
            <a:r>
              <a:rPr lang="en-US" sz="1050">
                <a:solidFill>
                  <a:srgbClr val="CBD5E1"/>
                </a:solidFill>
                <a:latin typeface="Calibri"/>
                <a:ea typeface="Calibri"/>
                <a:cs typeface="Calibri"/>
                <a:sym typeface="Calibri"/>
              </a:rPr>
              <a:t>Población no infectada pero en riesgo de contagio</a:t>
            </a:r>
            <a:endParaRPr sz="1050">
              <a:solidFill>
                <a:schemeClr val="dk1"/>
              </a:solidFill>
              <a:latin typeface="Calibri"/>
              <a:ea typeface="Calibri"/>
              <a:cs typeface="Calibri"/>
              <a:sym typeface="Calibri"/>
            </a:endParaRPr>
          </a:p>
        </p:txBody>
      </p:sp>
      <p:sp>
        <p:nvSpPr>
          <p:cNvPr id="138" name="Google Shape;138;p6"/>
          <p:cNvSpPr/>
          <p:nvPr/>
        </p:nvSpPr>
        <p:spPr>
          <a:xfrm>
            <a:off x="3337560" y="960120"/>
            <a:ext cx="2514600" cy="2560320"/>
          </a:xfrm>
          <a:prstGeom prst="rect">
            <a:avLst/>
          </a:prstGeom>
          <a:solidFill>
            <a:srgbClr val="0A1929"/>
          </a:solidFill>
          <a:ln cap="flat" cmpd="sng" w="12700">
            <a:solidFill>
              <a:srgbClr val="E539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3337560" y="960120"/>
            <a:ext cx="2514600" cy="411480"/>
          </a:xfrm>
          <a:prstGeom prst="rect">
            <a:avLst/>
          </a:prstGeom>
          <a:solidFill>
            <a:srgbClr val="E53935"/>
          </a:solidFill>
          <a:ln cap="flat" cmpd="sng" w="12700">
            <a:solidFill>
              <a:srgbClr val="E539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3337560" y="960120"/>
            <a:ext cx="25146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I</a:t>
            </a:r>
            <a:endParaRPr sz="2000">
              <a:solidFill>
                <a:schemeClr val="dk1"/>
              </a:solidFill>
              <a:latin typeface="Calibri"/>
              <a:ea typeface="Calibri"/>
              <a:cs typeface="Calibri"/>
              <a:sym typeface="Calibri"/>
            </a:endParaRPr>
          </a:p>
        </p:txBody>
      </p:sp>
      <p:sp>
        <p:nvSpPr>
          <p:cNvPr id="141" name="Google Shape;141;p6"/>
          <p:cNvSpPr/>
          <p:nvPr/>
        </p:nvSpPr>
        <p:spPr>
          <a:xfrm>
            <a:off x="3429000" y="1426464"/>
            <a:ext cx="23317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Infectados</a:t>
            </a:r>
            <a:endParaRPr sz="1300">
              <a:solidFill>
                <a:schemeClr val="dk1"/>
              </a:solidFill>
              <a:latin typeface="Calibri"/>
              <a:ea typeface="Calibri"/>
              <a:cs typeface="Calibri"/>
              <a:sym typeface="Calibri"/>
            </a:endParaRPr>
          </a:p>
        </p:txBody>
      </p:sp>
      <p:sp>
        <p:nvSpPr>
          <p:cNvPr id="142" name="Google Shape;142;p6"/>
          <p:cNvSpPr/>
          <p:nvPr/>
        </p:nvSpPr>
        <p:spPr>
          <a:xfrm>
            <a:off x="3447288" y="1810512"/>
            <a:ext cx="2295144"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50"/>
              <a:buFont typeface="Calibri"/>
              <a:buNone/>
            </a:pPr>
            <a:r>
              <a:rPr lang="en-US" sz="1050">
                <a:solidFill>
                  <a:srgbClr val="CBD5E1"/>
                </a:solidFill>
                <a:latin typeface="Calibri"/>
                <a:ea typeface="Calibri"/>
                <a:cs typeface="Calibri"/>
                <a:sym typeface="Calibri"/>
              </a:rPr>
              <a:t>Personas enfermas que pueden transmitir el virus</a:t>
            </a:r>
            <a:endParaRPr sz="1050">
              <a:solidFill>
                <a:schemeClr val="dk1"/>
              </a:solidFill>
              <a:latin typeface="Calibri"/>
              <a:ea typeface="Calibri"/>
              <a:cs typeface="Calibri"/>
              <a:sym typeface="Calibri"/>
            </a:endParaRPr>
          </a:p>
        </p:txBody>
      </p:sp>
      <p:sp>
        <p:nvSpPr>
          <p:cNvPr id="143" name="Google Shape;143;p6"/>
          <p:cNvSpPr/>
          <p:nvPr/>
        </p:nvSpPr>
        <p:spPr>
          <a:xfrm>
            <a:off x="6126480" y="960120"/>
            <a:ext cx="2514600" cy="2560320"/>
          </a:xfrm>
          <a:prstGeom prst="rect">
            <a:avLst/>
          </a:prstGeom>
          <a:solidFill>
            <a:srgbClr val="0A1929"/>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6126480" y="960120"/>
            <a:ext cx="2514600" cy="41148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6126480" y="960120"/>
            <a:ext cx="25146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R</a:t>
            </a:r>
            <a:endParaRPr sz="2000">
              <a:solidFill>
                <a:schemeClr val="dk1"/>
              </a:solidFill>
              <a:latin typeface="Calibri"/>
              <a:ea typeface="Calibri"/>
              <a:cs typeface="Calibri"/>
              <a:sym typeface="Calibri"/>
            </a:endParaRPr>
          </a:p>
        </p:txBody>
      </p:sp>
      <p:sp>
        <p:nvSpPr>
          <p:cNvPr id="146" name="Google Shape;146;p6"/>
          <p:cNvSpPr/>
          <p:nvPr/>
        </p:nvSpPr>
        <p:spPr>
          <a:xfrm>
            <a:off x="6217920" y="1426464"/>
            <a:ext cx="23317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Recuperados</a:t>
            </a:r>
            <a:endParaRPr sz="1300">
              <a:solidFill>
                <a:schemeClr val="dk1"/>
              </a:solidFill>
              <a:latin typeface="Calibri"/>
              <a:ea typeface="Calibri"/>
              <a:cs typeface="Calibri"/>
              <a:sym typeface="Calibri"/>
            </a:endParaRPr>
          </a:p>
        </p:txBody>
      </p:sp>
      <p:sp>
        <p:nvSpPr>
          <p:cNvPr id="147" name="Google Shape;147;p6"/>
          <p:cNvSpPr/>
          <p:nvPr/>
        </p:nvSpPr>
        <p:spPr>
          <a:xfrm>
            <a:off x="6236208" y="1810512"/>
            <a:ext cx="2295144"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50"/>
              <a:buFont typeface="Calibri"/>
              <a:buNone/>
            </a:pPr>
            <a:r>
              <a:rPr lang="en-US" sz="1050">
                <a:solidFill>
                  <a:srgbClr val="CBD5E1"/>
                </a:solidFill>
                <a:latin typeface="Calibri"/>
                <a:ea typeface="Calibri"/>
                <a:cs typeface="Calibri"/>
                <a:sym typeface="Calibri"/>
              </a:rPr>
              <a:t>Personas que superaron la infección (o fallecieron)</a:t>
            </a:r>
            <a:endParaRPr sz="1050">
              <a:solidFill>
                <a:schemeClr val="dk1"/>
              </a:solidFill>
              <a:latin typeface="Calibri"/>
              <a:ea typeface="Calibri"/>
              <a:cs typeface="Calibri"/>
              <a:sym typeface="Calibri"/>
            </a:endParaRPr>
          </a:p>
        </p:txBody>
      </p:sp>
      <p:sp>
        <p:nvSpPr>
          <p:cNvPr id="148" name="Google Shape;148;p6"/>
          <p:cNvSpPr/>
          <p:nvPr/>
        </p:nvSpPr>
        <p:spPr>
          <a:xfrm>
            <a:off x="3063240" y="1353312"/>
            <a:ext cx="274320" cy="45720"/>
          </a:xfrm>
          <a:prstGeom prst="rect">
            <a:avLst/>
          </a:prstGeom>
          <a:solidFill>
            <a:srgbClr val="F9A825"/>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2926080" y="1161288"/>
            <a:ext cx="50292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750"/>
              <a:buFont typeface="Calibri"/>
              <a:buNone/>
            </a:pPr>
            <a:r>
              <a:rPr lang="en-US" sz="750">
                <a:solidFill>
                  <a:srgbClr val="F9A825"/>
                </a:solidFill>
                <a:latin typeface="Calibri"/>
                <a:ea typeface="Calibri"/>
                <a:cs typeface="Calibri"/>
                <a:sym typeface="Calibri"/>
              </a:rPr>
              <a:t>β·S·I/N →</a:t>
            </a:r>
            <a:endParaRPr sz="750">
              <a:solidFill>
                <a:schemeClr val="dk1"/>
              </a:solidFill>
              <a:latin typeface="Calibri"/>
              <a:ea typeface="Calibri"/>
              <a:cs typeface="Calibri"/>
              <a:sym typeface="Calibri"/>
            </a:endParaRPr>
          </a:p>
        </p:txBody>
      </p:sp>
      <p:sp>
        <p:nvSpPr>
          <p:cNvPr id="150" name="Google Shape;150;p6"/>
          <p:cNvSpPr/>
          <p:nvPr/>
        </p:nvSpPr>
        <p:spPr>
          <a:xfrm>
            <a:off x="5852160" y="1353312"/>
            <a:ext cx="274320" cy="4572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5797307" y="1161226"/>
            <a:ext cx="384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897B"/>
              </a:buClr>
              <a:buSzPts val="750"/>
              <a:buFont typeface="Calibri"/>
              <a:buNone/>
            </a:pPr>
            <a:r>
              <a:rPr lang="en-US" sz="750">
                <a:solidFill>
                  <a:srgbClr val="00897B"/>
                </a:solidFill>
                <a:latin typeface="Calibri"/>
                <a:ea typeface="Calibri"/>
                <a:cs typeface="Calibri"/>
                <a:sym typeface="Calibri"/>
              </a:rPr>
              <a:t>γ·I →</a:t>
            </a:r>
            <a:endParaRPr sz="750">
              <a:solidFill>
                <a:schemeClr val="dk1"/>
              </a:solidFill>
              <a:latin typeface="Calibri"/>
              <a:ea typeface="Calibri"/>
              <a:cs typeface="Calibri"/>
              <a:sym typeface="Calibri"/>
            </a:endParaRPr>
          </a:p>
        </p:txBody>
      </p:sp>
      <p:sp>
        <p:nvSpPr>
          <p:cNvPr id="152" name="Google Shape;152;p6"/>
          <p:cNvSpPr/>
          <p:nvPr/>
        </p:nvSpPr>
        <p:spPr>
          <a:xfrm>
            <a:off x="365760" y="3611880"/>
            <a:ext cx="3657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lang="en-US" sz="1200">
                <a:solidFill>
                  <a:srgbClr val="F9A825"/>
                </a:solidFill>
                <a:latin typeface="Trebuchet MS"/>
                <a:ea typeface="Trebuchet MS"/>
                <a:cs typeface="Trebuchet MS"/>
                <a:sym typeface="Trebuchet MS"/>
              </a:rPr>
              <a:t>Parámetros clave</a:t>
            </a:r>
            <a:endParaRPr sz="1200">
              <a:solidFill>
                <a:schemeClr val="dk1"/>
              </a:solidFill>
              <a:latin typeface="Calibri"/>
              <a:ea typeface="Calibri"/>
              <a:cs typeface="Calibri"/>
              <a:sym typeface="Calibri"/>
            </a:endParaRPr>
          </a:p>
        </p:txBody>
      </p:sp>
      <p:sp>
        <p:nvSpPr>
          <p:cNvPr id="153" name="Google Shape;153;p6"/>
          <p:cNvSpPr/>
          <p:nvPr/>
        </p:nvSpPr>
        <p:spPr>
          <a:xfrm>
            <a:off x="365760" y="3977640"/>
            <a:ext cx="1554480" cy="274320"/>
          </a:xfrm>
          <a:prstGeom prst="rect">
            <a:avLst/>
          </a:prstGeom>
          <a:solidFill>
            <a:srgbClr val="061220"/>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365760" y="3977640"/>
            <a:ext cx="1554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Calibri"/>
              <a:buNone/>
            </a:pPr>
            <a:r>
              <a:rPr b="1" lang="en-US" sz="1050">
                <a:solidFill>
                  <a:srgbClr val="F9A825"/>
                </a:solidFill>
                <a:latin typeface="Calibri"/>
                <a:ea typeface="Calibri"/>
                <a:cs typeface="Calibri"/>
                <a:sym typeface="Calibri"/>
              </a:rPr>
              <a:t>β (beta)</a:t>
            </a:r>
            <a:endParaRPr sz="1050">
              <a:solidFill>
                <a:schemeClr val="dk1"/>
              </a:solidFill>
              <a:latin typeface="Calibri"/>
              <a:ea typeface="Calibri"/>
              <a:cs typeface="Calibri"/>
              <a:sym typeface="Calibri"/>
            </a:endParaRPr>
          </a:p>
        </p:txBody>
      </p:sp>
      <p:sp>
        <p:nvSpPr>
          <p:cNvPr id="155" name="Google Shape;155;p6"/>
          <p:cNvSpPr/>
          <p:nvPr/>
        </p:nvSpPr>
        <p:spPr>
          <a:xfrm>
            <a:off x="1965960" y="3995928"/>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050"/>
              <a:buFont typeface="Calibri"/>
              <a:buNone/>
            </a:pPr>
            <a:r>
              <a:rPr lang="en-US" sz="1050">
                <a:solidFill>
                  <a:srgbClr val="CBD5E1"/>
                </a:solidFill>
                <a:latin typeface="Calibri"/>
                <a:ea typeface="Calibri"/>
                <a:cs typeface="Calibri"/>
                <a:sym typeface="Calibri"/>
              </a:rPr>
              <a:t>Tasa de transmisión del virus entre personas</a:t>
            </a:r>
            <a:endParaRPr sz="1050">
              <a:solidFill>
                <a:schemeClr val="dk1"/>
              </a:solidFill>
              <a:latin typeface="Calibri"/>
              <a:ea typeface="Calibri"/>
              <a:cs typeface="Calibri"/>
              <a:sym typeface="Calibri"/>
            </a:endParaRPr>
          </a:p>
        </p:txBody>
      </p:sp>
      <p:sp>
        <p:nvSpPr>
          <p:cNvPr id="156" name="Google Shape;156;p6"/>
          <p:cNvSpPr/>
          <p:nvPr/>
        </p:nvSpPr>
        <p:spPr>
          <a:xfrm>
            <a:off x="365760" y="4325112"/>
            <a:ext cx="1554480" cy="274320"/>
          </a:xfrm>
          <a:prstGeom prst="rect">
            <a:avLst/>
          </a:prstGeom>
          <a:solidFill>
            <a:srgbClr val="061220"/>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365760" y="4325112"/>
            <a:ext cx="1554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Calibri"/>
              <a:buNone/>
            </a:pPr>
            <a:r>
              <a:rPr b="1" lang="en-US" sz="1050">
                <a:solidFill>
                  <a:srgbClr val="F9A825"/>
                </a:solidFill>
                <a:latin typeface="Calibri"/>
                <a:ea typeface="Calibri"/>
                <a:cs typeface="Calibri"/>
                <a:sym typeface="Calibri"/>
              </a:rPr>
              <a:t>γ (gamma)</a:t>
            </a:r>
            <a:endParaRPr sz="1050">
              <a:solidFill>
                <a:schemeClr val="dk1"/>
              </a:solidFill>
              <a:latin typeface="Calibri"/>
              <a:ea typeface="Calibri"/>
              <a:cs typeface="Calibri"/>
              <a:sym typeface="Calibri"/>
            </a:endParaRPr>
          </a:p>
        </p:txBody>
      </p:sp>
      <p:sp>
        <p:nvSpPr>
          <p:cNvPr id="158" name="Google Shape;158;p6"/>
          <p:cNvSpPr/>
          <p:nvPr/>
        </p:nvSpPr>
        <p:spPr>
          <a:xfrm>
            <a:off x="1965960" y="4343400"/>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050"/>
              <a:buFont typeface="Calibri"/>
              <a:buNone/>
            </a:pPr>
            <a:r>
              <a:rPr lang="en-US" sz="1050">
                <a:solidFill>
                  <a:srgbClr val="CBD5E1"/>
                </a:solidFill>
                <a:latin typeface="Calibri"/>
                <a:ea typeface="Calibri"/>
                <a:cs typeface="Calibri"/>
                <a:sym typeface="Calibri"/>
              </a:rPr>
              <a:t>Tasa de recuperación (1/periodo infeccioso)</a:t>
            </a:r>
            <a:endParaRPr sz="1050">
              <a:solidFill>
                <a:schemeClr val="dk1"/>
              </a:solidFill>
              <a:latin typeface="Calibri"/>
              <a:ea typeface="Calibri"/>
              <a:cs typeface="Calibri"/>
              <a:sym typeface="Calibri"/>
            </a:endParaRPr>
          </a:p>
        </p:txBody>
      </p:sp>
      <p:sp>
        <p:nvSpPr>
          <p:cNvPr id="159" name="Google Shape;159;p6"/>
          <p:cNvSpPr/>
          <p:nvPr/>
        </p:nvSpPr>
        <p:spPr>
          <a:xfrm>
            <a:off x="365760" y="4672584"/>
            <a:ext cx="1554480" cy="274320"/>
          </a:xfrm>
          <a:prstGeom prst="rect">
            <a:avLst/>
          </a:prstGeom>
          <a:solidFill>
            <a:srgbClr val="061220"/>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365760" y="4672584"/>
            <a:ext cx="1554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Calibri"/>
              <a:buNone/>
            </a:pPr>
            <a:r>
              <a:rPr b="1" lang="en-US" sz="1050">
                <a:solidFill>
                  <a:srgbClr val="F9A825"/>
                </a:solidFill>
                <a:latin typeface="Calibri"/>
                <a:ea typeface="Calibri"/>
                <a:cs typeface="Calibri"/>
                <a:sym typeface="Calibri"/>
              </a:rPr>
              <a:t>R₀ = β/γ</a:t>
            </a:r>
            <a:endParaRPr sz="1050">
              <a:solidFill>
                <a:schemeClr val="dk1"/>
              </a:solidFill>
              <a:latin typeface="Calibri"/>
              <a:ea typeface="Calibri"/>
              <a:cs typeface="Calibri"/>
              <a:sym typeface="Calibri"/>
            </a:endParaRPr>
          </a:p>
        </p:txBody>
      </p:sp>
      <p:sp>
        <p:nvSpPr>
          <p:cNvPr id="161" name="Google Shape;161;p6"/>
          <p:cNvSpPr/>
          <p:nvPr/>
        </p:nvSpPr>
        <p:spPr>
          <a:xfrm>
            <a:off x="1965960" y="4690872"/>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050"/>
              <a:buFont typeface="Calibri"/>
              <a:buNone/>
            </a:pPr>
            <a:r>
              <a:rPr lang="en-US" sz="1050">
                <a:solidFill>
                  <a:srgbClr val="CBD5E1"/>
                </a:solidFill>
                <a:latin typeface="Calibri"/>
                <a:ea typeface="Calibri"/>
                <a:cs typeface="Calibri"/>
                <a:sym typeface="Calibri"/>
              </a:rPr>
              <a:t>Número básico de reproducción: contagios por caso</a:t>
            </a:r>
            <a:endParaRPr sz="1050">
              <a:solidFill>
                <a:schemeClr val="dk1"/>
              </a:solidFill>
              <a:latin typeface="Calibri"/>
              <a:ea typeface="Calibri"/>
              <a:cs typeface="Calibri"/>
              <a:sym typeface="Calibri"/>
            </a:endParaRPr>
          </a:p>
        </p:txBody>
      </p:sp>
      <p:sp>
        <p:nvSpPr>
          <p:cNvPr id="162" name="Google Shape;162;p6"/>
          <p:cNvSpPr/>
          <p:nvPr/>
        </p:nvSpPr>
        <p:spPr>
          <a:xfrm>
            <a:off x="5394960" y="3611880"/>
            <a:ext cx="3291840" cy="1188720"/>
          </a:xfrm>
          <a:prstGeom prst="rect">
            <a:avLst/>
          </a:prstGeom>
          <a:solidFill>
            <a:srgbClr val="061220"/>
          </a:solidFill>
          <a:ln cap="flat" cmpd="sng" w="12700">
            <a:solidFill>
              <a:srgbClr val="334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5486400" y="365760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CAE6"/>
              </a:buClr>
              <a:buSzPts val="1000"/>
              <a:buFont typeface="Calibri"/>
              <a:buNone/>
            </a:pPr>
            <a:r>
              <a:rPr i="1" lang="en-US" sz="1000">
                <a:solidFill>
                  <a:srgbClr val="8ECAE6"/>
                </a:solidFill>
                <a:latin typeface="Calibri"/>
                <a:ea typeface="Calibri"/>
                <a:cs typeface="Calibri"/>
                <a:sym typeface="Calibri"/>
              </a:rPr>
              <a:t>El SIR es un modelo determinista compartamental. Asume una sola ola epidémica y una población homogéneamente mezclada. En pandemias reales con múltiples olas, su ajuste es aproximado y representa un comportamiento promedio del período analizado.</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168" name="Shape 168"/>
        <p:cNvGrpSpPr/>
        <p:nvPr/>
      </p:nvGrpSpPr>
      <p:grpSpPr>
        <a:xfrm>
          <a:off x="0" y="0"/>
          <a:ext cx="0" cy="0"/>
          <a:chOff x="0" y="0"/>
          <a:chExt cx="0" cy="0"/>
        </a:xfrm>
      </p:grpSpPr>
      <p:sp>
        <p:nvSpPr>
          <p:cNvPr id="169" name="Google Shape;169;p7"/>
          <p:cNvSpPr/>
          <p:nvPr/>
        </p:nvSpPr>
        <p:spPr>
          <a:xfrm>
            <a:off x="0" y="0"/>
            <a:ext cx="164592" cy="5143500"/>
          </a:xfrm>
          <a:prstGeom prst="rect">
            <a:avLst/>
          </a:prstGeom>
          <a:solidFill>
            <a:srgbClr val="E53935"/>
          </a:solidFill>
          <a:ln cap="flat" cmpd="sng" w="12700">
            <a:solidFill>
              <a:srgbClr val="E539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Modelo SIR — Resultados e Interpretación</a:t>
            </a:r>
            <a:endParaRPr sz="2200">
              <a:solidFill>
                <a:schemeClr val="dk1"/>
              </a:solidFill>
              <a:latin typeface="Calibri"/>
              <a:ea typeface="Calibri"/>
              <a:cs typeface="Calibri"/>
              <a:sym typeface="Calibri"/>
            </a:endParaRPr>
          </a:p>
        </p:txBody>
      </p:sp>
      <p:sp>
        <p:nvSpPr>
          <p:cNvPr id="171" name="Google Shape;171;p7"/>
          <p:cNvSpPr/>
          <p:nvPr/>
        </p:nvSpPr>
        <p:spPr>
          <a:xfrm>
            <a:off x="457200" y="804672"/>
            <a:ext cx="8229600" cy="27432"/>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6 / 14</a:t>
            </a:r>
            <a:endParaRPr sz="900">
              <a:solidFill>
                <a:schemeClr val="dk1"/>
              </a:solidFill>
              <a:latin typeface="Calibri"/>
              <a:ea typeface="Calibri"/>
              <a:cs typeface="Calibri"/>
              <a:sym typeface="Calibri"/>
            </a:endParaRPr>
          </a:p>
        </p:txBody>
      </p:sp>
      <p:sp>
        <p:nvSpPr>
          <p:cNvPr id="173" name="Google Shape;173;p7"/>
          <p:cNvSpPr/>
          <p:nvPr/>
        </p:nvSpPr>
        <p:spPr>
          <a:xfrm>
            <a:off x="320040" y="932688"/>
            <a:ext cx="2011680" cy="960120"/>
          </a:xfrm>
          <a:prstGeom prst="rect">
            <a:avLst/>
          </a:prstGeom>
          <a:solidFill>
            <a:srgbClr val="1C3553"/>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393192" y="1005840"/>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0.0784</a:t>
            </a:r>
            <a:endParaRPr sz="2200">
              <a:solidFill>
                <a:schemeClr val="dk1"/>
              </a:solidFill>
              <a:latin typeface="Calibri"/>
              <a:ea typeface="Calibri"/>
              <a:cs typeface="Calibri"/>
              <a:sym typeface="Calibri"/>
            </a:endParaRPr>
          </a:p>
        </p:txBody>
      </p:sp>
      <p:sp>
        <p:nvSpPr>
          <p:cNvPr id="175" name="Google Shape;175;p7"/>
          <p:cNvSpPr/>
          <p:nvPr/>
        </p:nvSpPr>
        <p:spPr>
          <a:xfrm>
            <a:off x="374904" y="1460754"/>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β (tasa transmisión)</a:t>
            </a:r>
            <a:endParaRPr sz="950">
              <a:solidFill>
                <a:schemeClr val="dk1"/>
              </a:solidFill>
              <a:latin typeface="Calibri"/>
              <a:ea typeface="Calibri"/>
              <a:cs typeface="Calibri"/>
              <a:sym typeface="Calibri"/>
            </a:endParaRPr>
          </a:p>
        </p:txBody>
      </p:sp>
      <p:sp>
        <p:nvSpPr>
          <p:cNvPr id="176" name="Google Shape;176;p7"/>
          <p:cNvSpPr/>
          <p:nvPr/>
        </p:nvSpPr>
        <p:spPr>
          <a:xfrm>
            <a:off x="374904" y="1700784"/>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diaria</a:t>
            </a:r>
            <a:endParaRPr sz="750">
              <a:solidFill>
                <a:schemeClr val="dk1"/>
              </a:solidFill>
              <a:latin typeface="Calibri"/>
              <a:ea typeface="Calibri"/>
              <a:cs typeface="Calibri"/>
              <a:sym typeface="Calibri"/>
            </a:endParaRPr>
          </a:p>
        </p:txBody>
      </p:sp>
      <p:sp>
        <p:nvSpPr>
          <p:cNvPr id="177" name="Google Shape;177;p7"/>
          <p:cNvSpPr/>
          <p:nvPr/>
        </p:nvSpPr>
        <p:spPr>
          <a:xfrm>
            <a:off x="2423160" y="932688"/>
            <a:ext cx="2011680" cy="960120"/>
          </a:xfrm>
          <a:prstGeom prst="rect">
            <a:avLst/>
          </a:prstGeom>
          <a:solidFill>
            <a:srgbClr val="1C3553"/>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2496312" y="1005840"/>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0.0812</a:t>
            </a:r>
            <a:endParaRPr sz="2200">
              <a:solidFill>
                <a:schemeClr val="dk1"/>
              </a:solidFill>
              <a:latin typeface="Calibri"/>
              <a:ea typeface="Calibri"/>
              <a:cs typeface="Calibri"/>
              <a:sym typeface="Calibri"/>
            </a:endParaRPr>
          </a:p>
        </p:txBody>
      </p:sp>
      <p:sp>
        <p:nvSpPr>
          <p:cNvPr id="179" name="Google Shape;179;p7"/>
          <p:cNvSpPr/>
          <p:nvPr/>
        </p:nvSpPr>
        <p:spPr>
          <a:xfrm>
            <a:off x="2478024" y="1460754"/>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γ (tasa recuperación)</a:t>
            </a:r>
            <a:endParaRPr sz="950">
              <a:solidFill>
                <a:schemeClr val="dk1"/>
              </a:solidFill>
              <a:latin typeface="Calibri"/>
              <a:ea typeface="Calibri"/>
              <a:cs typeface="Calibri"/>
              <a:sym typeface="Calibri"/>
            </a:endParaRPr>
          </a:p>
        </p:txBody>
      </p:sp>
      <p:sp>
        <p:nvSpPr>
          <p:cNvPr id="180" name="Google Shape;180;p7"/>
          <p:cNvSpPr/>
          <p:nvPr/>
        </p:nvSpPr>
        <p:spPr>
          <a:xfrm>
            <a:off x="2478024" y="1700784"/>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diaria</a:t>
            </a:r>
            <a:endParaRPr sz="750">
              <a:solidFill>
                <a:schemeClr val="dk1"/>
              </a:solidFill>
              <a:latin typeface="Calibri"/>
              <a:ea typeface="Calibri"/>
              <a:cs typeface="Calibri"/>
              <a:sym typeface="Calibri"/>
            </a:endParaRPr>
          </a:p>
        </p:txBody>
      </p:sp>
      <p:sp>
        <p:nvSpPr>
          <p:cNvPr id="181" name="Google Shape;181;p7"/>
          <p:cNvSpPr/>
          <p:nvPr/>
        </p:nvSpPr>
        <p:spPr>
          <a:xfrm>
            <a:off x="4526280" y="932688"/>
            <a:ext cx="2011680" cy="960120"/>
          </a:xfrm>
          <a:prstGeom prst="rect">
            <a:avLst/>
          </a:prstGeom>
          <a:solidFill>
            <a:srgbClr val="7B1010"/>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4599432" y="1005840"/>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Trebuchet MS"/>
              <a:buNone/>
            </a:pPr>
            <a:r>
              <a:rPr b="1" lang="en-US" sz="2600">
                <a:solidFill>
                  <a:srgbClr val="FFFFFF"/>
                </a:solidFill>
                <a:latin typeface="Trebuchet MS"/>
                <a:ea typeface="Trebuchet MS"/>
                <a:cs typeface="Trebuchet MS"/>
                <a:sym typeface="Trebuchet MS"/>
              </a:rPr>
              <a:t>0.966</a:t>
            </a:r>
            <a:endParaRPr sz="2600">
              <a:solidFill>
                <a:schemeClr val="dk1"/>
              </a:solidFill>
              <a:latin typeface="Calibri"/>
              <a:ea typeface="Calibri"/>
              <a:cs typeface="Calibri"/>
              <a:sym typeface="Calibri"/>
            </a:endParaRPr>
          </a:p>
        </p:txBody>
      </p:sp>
      <p:sp>
        <p:nvSpPr>
          <p:cNvPr id="183" name="Google Shape;183;p7"/>
          <p:cNvSpPr/>
          <p:nvPr/>
        </p:nvSpPr>
        <p:spPr>
          <a:xfrm>
            <a:off x="4581144" y="1460754"/>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R₀ (reproducción)</a:t>
            </a:r>
            <a:endParaRPr sz="950">
              <a:solidFill>
                <a:schemeClr val="dk1"/>
              </a:solidFill>
              <a:latin typeface="Calibri"/>
              <a:ea typeface="Calibri"/>
              <a:cs typeface="Calibri"/>
              <a:sym typeface="Calibri"/>
            </a:endParaRPr>
          </a:p>
        </p:txBody>
      </p:sp>
      <p:sp>
        <p:nvSpPr>
          <p:cNvPr id="184" name="Google Shape;184;p7"/>
          <p:cNvSpPr/>
          <p:nvPr/>
        </p:nvSpPr>
        <p:spPr>
          <a:xfrm>
            <a:off x="4581144" y="1700784"/>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&lt; 1 → controlado</a:t>
            </a:r>
            <a:endParaRPr sz="750">
              <a:solidFill>
                <a:schemeClr val="dk1"/>
              </a:solidFill>
              <a:latin typeface="Calibri"/>
              <a:ea typeface="Calibri"/>
              <a:cs typeface="Calibri"/>
              <a:sym typeface="Calibri"/>
            </a:endParaRPr>
          </a:p>
        </p:txBody>
      </p:sp>
      <p:sp>
        <p:nvSpPr>
          <p:cNvPr id="185" name="Google Shape;185;p7"/>
          <p:cNvSpPr/>
          <p:nvPr/>
        </p:nvSpPr>
        <p:spPr>
          <a:xfrm>
            <a:off x="6629400" y="932688"/>
            <a:ext cx="2011680" cy="960120"/>
          </a:xfrm>
          <a:prstGeom prst="rect">
            <a:avLst/>
          </a:prstGeom>
          <a:solidFill>
            <a:srgbClr val="194A3A"/>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6702552" y="1005840"/>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Trebuchet MS"/>
              <a:buNone/>
            </a:pPr>
            <a:r>
              <a:rPr b="1" lang="en-US" sz="1800">
                <a:solidFill>
                  <a:srgbClr val="FFFFFF"/>
                </a:solidFill>
                <a:latin typeface="Trebuchet MS"/>
                <a:ea typeface="Trebuchet MS"/>
                <a:cs typeface="Trebuchet MS"/>
                <a:sym typeface="Trebuchet MS"/>
              </a:rPr>
              <a:t>12.3 días</a:t>
            </a:r>
            <a:endParaRPr sz="1800">
              <a:solidFill>
                <a:schemeClr val="dk1"/>
              </a:solidFill>
              <a:latin typeface="Calibri"/>
              <a:ea typeface="Calibri"/>
              <a:cs typeface="Calibri"/>
              <a:sym typeface="Calibri"/>
            </a:endParaRPr>
          </a:p>
        </p:txBody>
      </p:sp>
      <p:sp>
        <p:nvSpPr>
          <p:cNvPr id="187" name="Google Shape;187;p7"/>
          <p:cNvSpPr/>
          <p:nvPr/>
        </p:nvSpPr>
        <p:spPr>
          <a:xfrm>
            <a:off x="6684264" y="1460754"/>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Período infeccioso</a:t>
            </a:r>
            <a:endParaRPr sz="950">
              <a:solidFill>
                <a:schemeClr val="dk1"/>
              </a:solidFill>
              <a:latin typeface="Calibri"/>
              <a:ea typeface="Calibri"/>
              <a:cs typeface="Calibri"/>
              <a:sym typeface="Calibri"/>
            </a:endParaRPr>
          </a:p>
        </p:txBody>
      </p:sp>
      <p:sp>
        <p:nvSpPr>
          <p:cNvPr id="188" name="Google Shape;188;p7"/>
          <p:cNvSpPr/>
          <p:nvPr/>
        </p:nvSpPr>
        <p:spPr>
          <a:xfrm>
            <a:off x="6684264" y="1700784"/>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1/γ</a:t>
            </a:r>
            <a:endParaRPr sz="750">
              <a:solidFill>
                <a:schemeClr val="dk1"/>
              </a:solidFill>
              <a:latin typeface="Calibri"/>
              <a:ea typeface="Calibri"/>
              <a:cs typeface="Calibri"/>
              <a:sym typeface="Calibri"/>
            </a:endParaRPr>
          </a:p>
        </p:txBody>
      </p:sp>
      <p:sp>
        <p:nvSpPr>
          <p:cNvPr id="189" name="Google Shape;189;p7"/>
          <p:cNvSpPr/>
          <p:nvPr/>
        </p:nvSpPr>
        <p:spPr>
          <a:xfrm>
            <a:off x="320040" y="1993392"/>
            <a:ext cx="2011680" cy="960120"/>
          </a:xfrm>
          <a:prstGeom prst="rect">
            <a:avLst/>
          </a:prstGeom>
          <a:solidFill>
            <a:srgbClr val="1C3553"/>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393192" y="2066544"/>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Trebuchet MS"/>
              <a:buNone/>
            </a:pPr>
            <a:r>
              <a:rPr b="1" lang="en-US" sz="1800">
                <a:solidFill>
                  <a:srgbClr val="FFFFFF"/>
                </a:solidFill>
                <a:latin typeface="Trebuchet MS"/>
                <a:ea typeface="Trebuchet MS"/>
                <a:cs typeface="Trebuchet MS"/>
                <a:sym typeface="Trebuchet MS"/>
              </a:rPr>
              <a:t>14-jun-2021</a:t>
            </a:r>
            <a:endParaRPr sz="1800">
              <a:solidFill>
                <a:schemeClr val="dk1"/>
              </a:solidFill>
              <a:latin typeface="Calibri"/>
              <a:ea typeface="Calibri"/>
              <a:cs typeface="Calibri"/>
              <a:sym typeface="Calibri"/>
            </a:endParaRPr>
          </a:p>
        </p:txBody>
      </p:sp>
      <p:sp>
        <p:nvSpPr>
          <p:cNvPr id="191" name="Google Shape;191;p7"/>
          <p:cNvSpPr/>
          <p:nvPr/>
        </p:nvSpPr>
        <p:spPr>
          <a:xfrm>
            <a:off x="374904" y="2521458"/>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Pico epidémico</a:t>
            </a:r>
            <a:endParaRPr sz="950">
              <a:solidFill>
                <a:schemeClr val="dk1"/>
              </a:solidFill>
              <a:latin typeface="Calibri"/>
              <a:ea typeface="Calibri"/>
              <a:cs typeface="Calibri"/>
              <a:sym typeface="Calibri"/>
            </a:endParaRPr>
          </a:p>
        </p:txBody>
      </p:sp>
      <p:sp>
        <p:nvSpPr>
          <p:cNvPr id="192" name="Google Shape;192;p7"/>
          <p:cNvSpPr/>
          <p:nvPr/>
        </p:nvSpPr>
        <p:spPr>
          <a:xfrm>
            <a:off x="374904" y="2761488"/>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Día 466 de la pandemia</a:t>
            </a:r>
            <a:endParaRPr sz="750">
              <a:solidFill>
                <a:schemeClr val="dk1"/>
              </a:solidFill>
              <a:latin typeface="Calibri"/>
              <a:ea typeface="Calibri"/>
              <a:cs typeface="Calibri"/>
              <a:sym typeface="Calibri"/>
            </a:endParaRPr>
          </a:p>
        </p:txBody>
      </p:sp>
      <p:sp>
        <p:nvSpPr>
          <p:cNvPr id="193" name="Google Shape;193;p7"/>
          <p:cNvSpPr/>
          <p:nvPr/>
        </p:nvSpPr>
        <p:spPr>
          <a:xfrm>
            <a:off x="2423160" y="1993392"/>
            <a:ext cx="2011680" cy="960120"/>
          </a:xfrm>
          <a:prstGeom prst="rect">
            <a:avLst/>
          </a:prstGeom>
          <a:solidFill>
            <a:srgbClr val="7B1010"/>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2496312" y="2066544"/>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215,523</a:t>
            </a:r>
            <a:endParaRPr sz="2200">
              <a:solidFill>
                <a:schemeClr val="dk1"/>
              </a:solidFill>
              <a:latin typeface="Calibri"/>
              <a:ea typeface="Calibri"/>
              <a:cs typeface="Calibri"/>
              <a:sym typeface="Calibri"/>
            </a:endParaRPr>
          </a:p>
        </p:txBody>
      </p:sp>
      <p:sp>
        <p:nvSpPr>
          <p:cNvPr id="195" name="Google Shape;195;p7"/>
          <p:cNvSpPr/>
          <p:nvPr/>
        </p:nvSpPr>
        <p:spPr>
          <a:xfrm>
            <a:off x="2478024" y="2521458"/>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Infectados en pico</a:t>
            </a:r>
            <a:endParaRPr sz="950">
              <a:solidFill>
                <a:schemeClr val="dk1"/>
              </a:solidFill>
              <a:latin typeface="Calibri"/>
              <a:ea typeface="Calibri"/>
              <a:cs typeface="Calibri"/>
              <a:sym typeface="Calibri"/>
            </a:endParaRPr>
          </a:p>
        </p:txBody>
      </p:sp>
      <p:sp>
        <p:nvSpPr>
          <p:cNvPr id="196" name="Google Shape;196;p7"/>
          <p:cNvSpPr/>
          <p:nvPr/>
        </p:nvSpPr>
        <p:spPr>
          <a:xfrm>
            <a:off x="2478024" y="2761488"/>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activos simultáneos</a:t>
            </a:r>
            <a:endParaRPr sz="750">
              <a:solidFill>
                <a:schemeClr val="dk1"/>
              </a:solidFill>
              <a:latin typeface="Calibri"/>
              <a:ea typeface="Calibri"/>
              <a:cs typeface="Calibri"/>
              <a:sym typeface="Calibri"/>
            </a:endParaRPr>
          </a:p>
        </p:txBody>
      </p:sp>
      <p:sp>
        <p:nvSpPr>
          <p:cNvPr id="197" name="Google Shape;197;p7"/>
          <p:cNvSpPr/>
          <p:nvPr/>
        </p:nvSpPr>
        <p:spPr>
          <a:xfrm>
            <a:off x="4526280" y="1993392"/>
            <a:ext cx="2011680" cy="960120"/>
          </a:xfrm>
          <a:prstGeom prst="rect">
            <a:avLst/>
          </a:prstGeom>
          <a:solidFill>
            <a:srgbClr val="194A3A"/>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4599432" y="2066544"/>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10.29%</a:t>
            </a:r>
            <a:endParaRPr sz="2200">
              <a:solidFill>
                <a:schemeClr val="dk1"/>
              </a:solidFill>
              <a:latin typeface="Calibri"/>
              <a:ea typeface="Calibri"/>
              <a:cs typeface="Calibri"/>
              <a:sym typeface="Calibri"/>
            </a:endParaRPr>
          </a:p>
        </p:txBody>
      </p:sp>
      <p:sp>
        <p:nvSpPr>
          <p:cNvPr id="199" name="Google Shape;199;p7"/>
          <p:cNvSpPr/>
          <p:nvPr/>
        </p:nvSpPr>
        <p:spPr>
          <a:xfrm>
            <a:off x="4581144" y="2521458"/>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Tamaño final</a:t>
            </a:r>
            <a:endParaRPr sz="950">
              <a:solidFill>
                <a:schemeClr val="dk1"/>
              </a:solidFill>
              <a:latin typeface="Calibri"/>
              <a:ea typeface="Calibri"/>
              <a:cs typeface="Calibri"/>
              <a:sym typeface="Calibri"/>
            </a:endParaRPr>
          </a:p>
        </p:txBody>
      </p:sp>
      <p:sp>
        <p:nvSpPr>
          <p:cNvPr id="200" name="Google Shape;200;p7"/>
          <p:cNvSpPr/>
          <p:nvPr/>
        </p:nvSpPr>
        <p:spPr>
          <a:xfrm>
            <a:off x="4581144" y="2761488"/>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de la población total</a:t>
            </a:r>
            <a:endParaRPr sz="750">
              <a:solidFill>
                <a:schemeClr val="dk1"/>
              </a:solidFill>
              <a:latin typeface="Calibri"/>
              <a:ea typeface="Calibri"/>
              <a:cs typeface="Calibri"/>
              <a:sym typeface="Calibri"/>
            </a:endParaRPr>
          </a:p>
        </p:txBody>
      </p:sp>
      <p:sp>
        <p:nvSpPr>
          <p:cNvPr id="201" name="Google Shape;201;p7"/>
          <p:cNvSpPr/>
          <p:nvPr/>
        </p:nvSpPr>
        <p:spPr>
          <a:xfrm>
            <a:off x="6629400" y="1993392"/>
            <a:ext cx="2011680" cy="960120"/>
          </a:xfrm>
          <a:prstGeom prst="rect">
            <a:avLst/>
          </a:prstGeom>
          <a:solidFill>
            <a:srgbClr val="1C3553"/>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6702552" y="2066544"/>
            <a:ext cx="1865376" cy="4800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Trebuchet MS"/>
              <a:buNone/>
            </a:pPr>
            <a:r>
              <a:rPr b="1" lang="en-US" sz="2600">
                <a:solidFill>
                  <a:srgbClr val="FFFFFF"/>
                </a:solidFill>
                <a:latin typeface="Trebuchet MS"/>
                <a:ea typeface="Trebuchet MS"/>
                <a:cs typeface="Trebuchet MS"/>
                <a:sym typeface="Trebuchet MS"/>
              </a:rPr>
              <a:t>5.1 M</a:t>
            </a:r>
            <a:endParaRPr sz="2600">
              <a:solidFill>
                <a:schemeClr val="dk1"/>
              </a:solidFill>
              <a:latin typeface="Calibri"/>
              <a:ea typeface="Calibri"/>
              <a:cs typeface="Calibri"/>
              <a:sym typeface="Calibri"/>
            </a:endParaRPr>
          </a:p>
        </p:txBody>
      </p:sp>
      <p:sp>
        <p:nvSpPr>
          <p:cNvPr id="203" name="Google Shape;203;p7"/>
          <p:cNvSpPr/>
          <p:nvPr/>
        </p:nvSpPr>
        <p:spPr>
          <a:xfrm>
            <a:off x="6684264" y="2521458"/>
            <a:ext cx="1901952" cy="24963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Casos totales</a:t>
            </a:r>
            <a:endParaRPr sz="950">
              <a:solidFill>
                <a:schemeClr val="dk1"/>
              </a:solidFill>
              <a:latin typeface="Calibri"/>
              <a:ea typeface="Calibri"/>
              <a:cs typeface="Calibri"/>
              <a:sym typeface="Calibri"/>
            </a:endParaRPr>
          </a:p>
        </p:txBody>
      </p:sp>
      <p:sp>
        <p:nvSpPr>
          <p:cNvPr id="204" name="Google Shape;204;p7"/>
          <p:cNvSpPr/>
          <p:nvPr/>
        </p:nvSpPr>
        <p:spPr>
          <a:xfrm>
            <a:off x="6684264" y="2761488"/>
            <a:ext cx="1901952" cy="1728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confirmados Colombia</a:t>
            </a:r>
            <a:endParaRPr sz="750">
              <a:solidFill>
                <a:schemeClr val="dk1"/>
              </a:solidFill>
              <a:latin typeface="Calibri"/>
              <a:ea typeface="Calibri"/>
              <a:cs typeface="Calibri"/>
              <a:sym typeface="Calibri"/>
            </a:endParaRPr>
          </a:p>
        </p:txBody>
      </p:sp>
      <p:sp>
        <p:nvSpPr>
          <p:cNvPr id="205" name="Google Shape;205;p7"/>
          <p:cNvSpPr/>
          <p:nvPr/>
        </p:nvSpPr>
        <p:spPr>
          <a:xfrm>
            <a:off x="320040" y="3063240"/>
            <a:ext cx="8321040" cy="1783080"/>
          </a:xfrm>
          <a:prstGeom prst="rect">
            <a:avLst/>
          </a:prstGeom>
          <a:solidFill>
            <a:srgbClr val="071220"/>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457200" y="3127248"/>
            <a:ext cx="2743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lang="en-US" sz="1200">
                <a:solidFill>
                  <a:srgbClr val="F9A825"/>
                </a:solidFill>
                <a:latin typeface="Trebuchet MS"/>
                <a:ea typeface="Trebuchet MS"/>
                <a:cs typeface="Trebuchet MS"/>
                <a:sym typeface="Trebuchet MS"/>
              </a:rPr>
              <a:t>Interpretación</a:t>
            </a:r>
            <a:endParaRPr sz="1200">
              <a:solidFill>
                <a:schemeClr val="dk1"/>
              </a:solidFill>
              <a:latin typeface="Calibri"/>
              <a:ea typeface="Calibri"/>
              <a:cs typeface="Calibri"/>
              <a:sym typeface="Calibri"/>
            </a:endParaRPr>
          </a:p>
        </p:txBody>
      </p:sp>
      <p:sp>
        <p:nvSpPr>
          <p:cNvPr id="207" name="Google Shape;207;p7"/>
          <p:cNvSpPr/>
          <p:nvPr/>
        </p:nvSpPr>
        <p:spPr>
          <a:xfrm>
            <a:off x="457200" y="3456432"/>
            <a:ext cx="8046720" cy="129844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CBD5E1"/>
              </a:buClr>
              <a:buSzPts val="1100"/>
              <a:buFont typeface="Calibri"/>
              <a:buChar char="•"/>
            </a:pPr>
            <a:r>
              <a:rPr lang="en-US" sz="1100">
                <a:solidFill>
                  <a:srgbClr val="CBD5E1"/>
                </a:solidFill>
                <a:latin typeface="Calibri"/>
                <a:ea typeface="Calibri"/>
                <a:cs typeface="Calibri"/>
                <a:sym typeface="Calibri"/>
              </a:rPr>
              <a:t>R₀ = 0.966 &lt; 1: al momento del ajuste global del SIR, la epidemia ya mostraba tendencia a la contención</a:t>
            </a:r>
            <a:endParaRPr sz="1100">
              <a:solidFill>
                <a:schemeClr val="dk1"/>
              </a:solidFill>
              <a:latin typeface="Calibri"/>
              <a:ea typeface="Calibri"/>
              <a:cs typeface="Calibri"/>
              <a:sym typeface="Calibri"/>
            </a:endParaRPr>
          </a:p>
          <a:p>
            <a:pPr indent="-342900" lvl="0" marL="342900" marR="0" rtl="0" algn="l">
              <a:spcBef>
                <a:spcPts val="300"/>
              </a:spcBef>
              <a:spcAft>
                <a:spcPts val="0"/>
              </a:spcAft>
              <a:buClr>
                <a:srgbClr val="CBD5E1"/>
              </a:buClr>
              <a:buSzPts val="1100"/>
              <a:buFont typeface="Calibri"/>
              <a:buChar char="•"/>
            </a:pPr>
            <a:r>
              <a:rPr lang="en-US" sz="1100">
                <a:solidFill>
                  <a:srgbClr val="CBD5E1"/>
                </a:solidFill>
                <a:latin typeface="Calibri"/>
                <a:ea typeface="Calibri"/>
                <a:cs typeface="Calibri"/>
                <a:sym typeface="Calibri"/>
              </a:rPr>
              <a:t>Período infeccioso de 12.3 días: consistente con la evidencia clínica del COVID-19</a:t>
            </a:r>
            <a:endParaRPr sz="1100">
              <a:solidFill>
                <a:schemeClr val="dk1"/>
              </a:solidFill>
              <a:latin typeface="Calibri"/>
              <a:ea typeface="Calibri"/>
              <a:cs typeface="Calibri"/>
              <a:sym typeface="Calibri"/>
            </a:endParaRPr>
          </a:p>
          <a:p>
            <a:pPr indent="-342900" lvl="0" marL="342900" marR="0" rtl="0" algn="l">
              <a:spcBef>
                <a:spcPts val="300"/>
              </a:spcBef>
              <a:spcAft>
                <a:spcPts val="0"/>
              </a:spcAft>
              <a:buClr>
                <a:srgbClr val="CBD5E1"/>
              </a:buClr>
              <a:buSzPts val="1100"/>
              <a:buFont typeface="Calibri"/>
              <a:buChar char="•"/>
            </a:pPr>
            <a:r>
              <a:rPr lang="en-US" sz="1100">
                <a:solidFill>
                  <a:srgbClr val="CBD5E1"/>
                </a:solidFill>
                <a:latin typeface="Calibri"/>
                <a:ea typeface="Calibri"/>
                <a:cs typeface="Calibri"/>
                <a:sym typeface="Calibri"/>
              </a:rPr>
              <a:t>Pico el 14-jun-2021: coincide con la tercera ola de Colombia, la más severa del período</a:t>
            </a:r>
            <a:endParaRPr sz="1100">
              <a:solidFill>
                <a:schemeClr val="dk1"/>
              </a:solidFill>
              <a:latin typeface="Calibri"/>
              <a:ea typeface="Calibri"/>
              <a:cs typeface="Calibri"/>
              <a:sym typeface="Calibri"/>
            </a:endParaRPr>
          </a:p>
          <a:p>
            <a:pPr indent="-342900" lvl="0" marL="342900" marR="0" rtl="0" algn="l">
              <a:spcBef>
                <a:spcPts val="300"/>
              </a:spcBef>
              <a:spcAft>
                <a:spcPts val="0"/>
              </a:spcAft>
              <a:buClr>
                <a:srgbClr val="CBD5E1"/>
              </a:buClr>
              <a:buSzPts val="1100"/>
              <a:buFont typeface="Calibri"/>
              <a:buChar char="•"/>
            </a:pPr>
            <a:r>
              <a:rPr lang="en-US" sz="1100">
                <a:solidFill>
                  <a:srgbClr val="CBD5E1"/>
                </a:solidFill>
                <a:latin typeface="Calibri"/>
                <a:ea typeface="Calibri"/>
                <a:cs typeface="Calibri"/>
                <a:sym typeface="Calibri"/>
              </a:rPr>
              <a:t>El SIR captura el comportamiento promedio de toda la pandemia; las olas individuales requieren extensiones del modelo</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12" name="Shape 212"/>
        <p:cNvGrpSpPr/>
        <p:nvPr/>
      </p:nvGrpSpPr>
      <p:grpSpPr>
        <a:xfrm>
          <a:off x="0" y="0"/>
          <a:ext cx="0" cy="0"/>
          <a:chOff x="0" y="0"/>
          <a:chExt cx="0" cy="0"/>
        </a:xfrm>
      </p:grpSpPr>
      <p:sp>
        <p:nvSpPr>
          <p:cNvPr id="213" name="Google Shape;213;p8"/>
          <p:cNvSpPr/>
          <p:nvPr/>
        </p:nvSpPr>
        <p:spPr>
          <a:xfrm>
            <a:off x="0" y="0"/>
            <a:ext cx="9144000" cy="96012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137"/>
              </a:buClr>
              <a:buSzPts val="2200"/>
              <a:buFont typeface="Trebuchet MS"/>
              <a:buNone/>
            </a:pPr>
            <a:r>
              <a:rPr b="1" lang="en-US" sz="2200">
                <a:solidFill>
                  <a:srgbClr val="0D2137"/>
                </a:solidFill>
                <a:highlight>
                  <a:schemeClr val="lt1"/>
                </a:highlight>
                <a:latin typeface="Trebuchet MS"/>
                <a:ea typeface="Trebuchet MS"/>
                <a:cs typeface="Trebuchet MS"/>
                <a:sym typeface="Trebuchet MS"/>
              </a:rPr>
              <a:t>Modelo Predictivo: Regresión Lineal Temporal con Rezagos</a:t>
            </a:r>
            <a:endParaRPr sz="2200">
              <a:solidFill>
                <a:schemeClr val="dk1"/>
              </a:solidFill>
              <a:highlight>
                <a:schemeClr val="lt1"/>
              </a:highlight>
              <a:latin typeface="Calibri"/>
              <a:ea typeface="Calibri"/>
              <a:cs typeface="Calibri"/>
              <a:sym typeface="Calibri"/>
            </a:endParaRPr>
          </a:p>
        </p:txBody>
      </p:sp>
      <p:sp>
        <p:nvSpPr>
          <p:cNvPr id="215" name="Google Shape;215;p8"/>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7 / 14</a:t>
            </a:r>
            <a:endParaRPr sz="900">
              <a:solidFill>
                <a:schemeClr val="dk1"/>
              </a:solidFill>
              <a:latin typeface="Calibri"/>
              <a:ea typeface="Calibri"/>
              <a:cs typeface="Calibri"/>
              <a:sym typeface="Calibri"/>
            </a:endParaRPr>
          </a:p>
        </p:txBody>
      </p:sp>
      <p:pic>
        <p:nvPicPr>
          <p:cNvPr descr="preencoded.png" id="216" name="Google Shape;216;p8"/>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217" name="Google Shape;217;p8"/>
          <p:cNvSpPr/>
          <p:nvPr/>
        </p:nvSpPr>
        <p:spPr>
          <a:xfrm>
            <a:off x="365760" y="1051560"/>
            <a:ext cx="4114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300"/>
              <a:buFont typeface="Trebuchet MS"/>
              <a:buNone/>
            </a:pPr>
            <a:r>
              <a:rPr b="1" lang="en-US" sz="1300">
                <a:solidFill>
                  <a:srgbClr val="0D2137"/>
                </a:solidFill>
                <a:latin typeface="Trebuchet MS"/>
                <a:ea typeface="Trebuchet MS"/>
                <a:cs typeface="Trebuchet MS"/>
                <a:sym typeface="Trebuchet MS"/>
              </a:rPr>
              <a:t>Especificación del modelo</a:t>
            </a:r>
            <a:endParaRPr sz="1300">
              <a:solidFill>
                <a:schemeClr val="dk1"/>
              </a:solidFill>
              <a:latin typeface="Calibri"/>
              <a:ea typeface="Calibri"/>
              <a:cs typeface="Calibri"/>
              <a:sym typeface="Calibri"/>
            </a:endParaRPr>
          </a:p>
        </p:txBody>
      </p:sp>
      <p:sp>
        <p:nvSpPr>
          <p:cNvPr id="218" name="Google Shape;218;p8"/>
          <p:cNvSpPr/>
          <p:nvPr/>
        </p:nvSpPr>
        <p:spPr>
          <a:xfrm>
            <a:off x="365760" y="1417320"/>
            <a:ext cx="4114800" cy="2057400"/>
          </a:xfrm>
          <a:prstGeom prst="rect">
            <a:avLst/>
          </a:prstGeom>
          <a:solidFill>
            <a:srgbClr val="EEF4FB"/>
          </a:solidFill>
          <a:ln cap="flat" cmpd="sng" w="12700">
            <a:solidFill>
              <a:srgbClr val="B0C4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502925" y="1508704"/>
            <a:ext cx="3840600" cy="1789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200"/>
              <a:buFont typeface="Calibri"/>
              <a:buNone/>
            </a:pPr>
            <a:r>
              <a:rPr b="1" lang="en-US" sz="1200">
                <a:solidFill>
                  <a:srgbClr val="1565C0"/>
                </a:solidFill>
                <a:latin typeface="Calibri"/>
                <a:ea typeface="Calibri"/>
                <a:cs typeface="Calibri"/>
                <a:sym typeface="Calibri"/>
              </a:rPr>
              <a:t>new_cases_7d =</a:t>
            </a:r>
            <a:endParaRPr b="1" sz="1200">
              <a:solidFill>
                <a:srgbClr val="1565C0"/>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1.114368(cases7_lag1)</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− 0.104171(cases7_lag7)</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− 0.019259(cases7_lag14)</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+ 0.002987(cases7_lag21)</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− 0.000194(tests7_lag1)</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+ 0.000156(tests7_lag7)</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b="1" lang="en-US" sz="1200">
                <a:solidFill>
                  <a:schemeClr val="dk1"/>
                </a:solidFill>
                <a:latin typeface="Calibri"/>
                <a:ea typeface="Calibri"/>
                <a:cs typeface="Calibri"/>
                <a:sym typeface="Calibri"/>
              </a:rPr>
              <a:t>+ ε</a:t>
            </a:r>
            <a:endParaRPr b="1" sz="1200">
              <a:solidFill>
                <a:schemeClr val="dk1"/>
              </a:solidFill>
              <a:latin typeface="Calibri"/>
              <a:ea typeface="Calibri"/>
              <a:cs typeface="Calibri"/>
              <a:sym typeface="Calibri"/>
            </a:endParaRPr>
          </a:p>
          <a:p>
            <a:pPr indent="0" lvl="0" marL="0" marR="0" rtl="0" algn="l">
              <a:spcBef>
                <a:spcPts val="0"/>
              </a:spcBef>
              <a:spcAft>
                <a:spcPts val="0"/>
              </a:spcAft>
              <a:buClr>
                <a:srgbClr val="1565C0"/>
              </a:buClr>
              <a:buSzPts val="1200"/>
              <a:buFont typeface="Calibri"/>
              <a:buNone/>
            </a:pPr>
            <a:r>
              <a:rPr lang="en-US" sz="1100">
                <a:solidFill>
                  <a:schemeClr val="dk1"/>
                </a:solidFill>
                <a:highlight>
                  <a:schemeClr val="lt1"/>
                </a:highlight>
              </a:rPr>
              <a:t>Sin intercepto porque el modelo fue ajustado con </a:t>
            </a:r>
            <a:r>
              <a:rPr lang="en-US" sz="1100">
                <a:solidFill>
                  <a:schemeClr val="dk1"/>
                </a:solidFill>
                <a:highlight>
                  <a:schemeClr val="lt1"/>
                </a:highlight>
                <a:latin typeface="Roboto Mono"/>
                <a:ea typeface="Roboto Mono"/>
                <a:cs typeface="Roboto Mono"/>
                <a:sym typeface="Roboto Mono"/>
              </a:rPr>
              <a:t>fit_intercept=False</a:t>
            </a:r>
            <a:r>
              <a:rPr lang="en-US" sz="1100">
                <a:solidFill>
                  <a:schemeClr val="dk1"/>
                </a:solidFill>
                <a:highlight>
                  <a:schemeClr val="lt1"/>
                </a:highlight>
              </a:rPr>
              <a:t>. </a:t>
            </a:r>
            <a:endParaRPr b="1" sz="1200">
              <a:solidFill>
                <a:schemeClr val="dk1"/>
              </a:solidFill>
              <a:highlight>
                <a:schemeClr val="lt1"/>
              </a:highlight>
              <a:latin typeface="Calibri"/>
              <a:ea typeface="Calibri"/>
              <a:cs typeface="Calibri"/>
              <a:sym typeface="Calibri"/>
            </a:endParaRPr>
          </a:p>
        </p:txBody>
      </p:sp>
      <p:sp>
        <p:nvSpPr>
          <p:cNvPr id="220" name="Google Shape;220;p8"/>
          <p:cNvSpPr/>
          <p:nvPr/>
        </p:nvSpPr>
        <p:spPr>
          <a:xfrm>
            <a:off x="4846320" y="105156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897B"/>
              </a:buClr>
              <a:buSzPts val="1300"/>
              <a:buFont typeface="Trebuchet MS"/>
              <a:buNone/>
            </a:pPr>
            <a:r>
              <a:rPr b="1" lang="en-US" sz="1300">
                <a:solidFill>
                  <a:srgbClr val="00897B"/>
                </a:solidFill>
                <a:latin typeface="Trebuchet MS"/>
                <a:ea typeface="Trebuchet MS"/>
                <a:cs typeface="Trebuchet MS"/>
                <a:sym typeface="Trebuchet MS"/>
              </a:rPr>
              <a:t>Validación temporal</a:t>
            </a:r>
            <a:endParaRPr sz="1300">
              <a:solidFill>
                <a:schemeClr val="dk1"/>
              </a:solidFill>
              <a:latin typeface="Calibri"/>
              <a:ea typeface="Calibri"/>
              <a:cs typeface="Calibri"/>
              <a:sym typeface="Calibri"/>
            </a:endParaRPr>
          </a:p>
        </p:txBody>
      </p:sp>
      <p:sp>
        <p:nvSpPr>
          <p:cNvPr id="221" name="Google Shape;221;p8"/>
          <p:cNvSpPr/>
          <p:nvPr/>
        </p:nvSpPr>
        <p:spPr>
          <a:xfrm>
            <a:off x="4846320" y="1417320"/>
            <a:ext cx="1920240" cy="2057400"/>
          </a:xfrm>
          <a:prstGeom prst="rect">
            <a:avLst/>
          </a:prstGeom>
          <a:solidFill>
            <a:srgbClr val="E3F2FD"/>
          </a:solidFill>
          <a:ln cap="flat" cmpd="sng" w="12700">
            <a:solidFill>
              <a:srgbClr val="90CA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4846320" y="1417320"/>
            <a:ext cx="1920240" cy="205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300"/>
              <a:buFont typeface="Trebuchet MS"/>
              <a:buNone/>
            </a:pPr>
            <a:r>
              <a:rPr b="1" lang="en-US" sz="1300">
                <a:solidFill>
                  <a:srgbClr val="1565C0"/>
                </a:solidFill>
                <a:latin typeface="Trebuchet MS"/>
                <a:ea typeface="Trebuchet MS"/>
                <a:cs typeface="Trebuchet MS"/>
                <a:sym typeface="Trebuchet MS"/>
              </a:rPr>
              <a:t>Entrenamiento</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1300"/>
              <a:buFont typeface="Trebuchet MS"/>
              <a:buNone/>
            </a:pPr>
            <a:r>
              <a:rPr b="1" lang="en-US" sz="1300">
                <a:solidFill>
                  <a:srgbClr val="1565C0"/>
                </a:solidFill>
                <a:latin typeface="Trebuchet MS"/>
                <a:ea typeface="Trebuchet MS"/>
                <a:cs typeface="Trebuchet MS"/>
                <a:sym typeface="Trebuchet MS"/>
              </a:rPr>
              <a:t>80%</a:t>
            </a:r>
            <a:endParaRPr sz="1300">
              <a:solidFill>
                <a:schemeClr val="dk1"/>
              </a:solidFill>
              <a:latin typeface="Calibri"/>
              <a:ea typeface="Calibri"/>
              <a:cs typeface="Calibri"/>
              <a:sym typeface="Calibri"/>
            </a:endParaRPr>
          </a:p>
        </p:txBody>
      </p:sp>
      <p:sp>
        <p:nvSpPr>
          <p:cNvPr id="223" name="Google Shape;223;p8"/>
          <p:cNvSpPr/>
          <p:nvPr/>
        </p:nvSpPr>
        <p:spPr>
          <a:xfrm>
            <a:off x="6766560" y="1417320"/>
            <a:ext cx="1783080" cy="2057400"/>
          </a:xfrm>
          <a:prstGeom prst="rect">
            <a:avLst/>
          </a:prstGeom>
          <a:solidFill>
            <a:srgbClr val="FFF8E1"/>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6766560" y="1417320"/>
            <a:ext cx="1783080" cy="205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860B"/>
              </a:buClr>
              <a:buSzPts val="1300"/>
              <a:buFont typeface="Trebuchet MS"/>
              <a:buNone/>
            </a:pPr>
            <a:r>
              <a:rPr b="1" lang="en-US" sz="1300">
                <a:solidFill>
                  <a:srgbClr val="B8860B"/>
                </a:solidFill>
                <a:latin typeface="Trebuchet MS"/>
                <a:ea typeface="Trebuchet MS"/>
                <a:cs typeface="Trebuchet MS"/>
                <a:sym typeface="Trebuchet MS"/>
              </a:rPr>
              <a:t>Prueba</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B8860B"/>
              </a:buClr>
              <a:buSzPts val="1300"/>
              <a:buFont typeface="Trebuchet MS"/>
              <a:buNone/>
            </a:pPr>
            <a:r>
              <a:rPr b="1" lang="en-US" sz="1300">
                <a:solidFill>
                  <a:srgbClr val="B8860B"/>
                </a:solidFill>
                <a:latin typeface="Trebuchet MS"/>
                <a:ea typeface="Trebuchet MS"/>
                <a:cs typeface="Trebuchet MS"/>
                <a:sym typeface="Trebuchet MS"/>
              </a:rPr>
              <a:t>20%</a:t>
            </a:r>
            <a:endParaRPr sz="1300">
              <a:solidFill>
                <a:schemeClr val="dk1"/>
              </a:solidFill>
              <a:latin typeface="Calibri"/>
              <a:ea typeface="Calibri"/>
              <a:cs typeface="Calibri"/>
              <a:sym typeface="Calibri"/>
            </a:endParaRPr>
          </a:p>
        </p:txBody>
      </p:sp>
      <p:sp>
        <p:nvSpPr>
          <p:cNvPr id="225" name="Google Shape;225;p8"/>
          <p:cNvSpPr/>
          <p:nvPr/>
        </p:nvSpPr>
        <p:spPr>
          <a:xfrm>
            <a:off x="365760" y="3703320"/>
            <a:ext cx="8321040" cy="109728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502920" y="374904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lang="en-US" sz="1100">
                <a:solidFill>
                  <a:srgbClr val="F9A825"/>
                </a:solidFill>
                <a:latin typeface="Trebuchet MS"/>
                <a:ea typeface="Trebuchet MS"/>
                <a:cs typeface="Trebuchet MS"/>
                <a:sym typeface="Trebuchet MS"/>
              </a:rPr>
              <a:t>¿Por qué rezagos?</a:t>
            </a:r>
            <a:endParaRPr sz="1100">
              <a:solidFill>
                <a:schemeClr val="dk1"/>
              </a:solidFill>
              <a:latin typeface="Calibri"/>
              <a:ea typeface="Calibri"/>
              <a:cs typeface="Calibri"/>
              <a:sym typeface="Calibri"/>
            </a:endParaRPr>
          </a:p>
        </p:txBody>
      </p:sp>
      <p:sp>
        <p:nvSpPr>
          <p:cNvPr id="227" name="Google Shape;227;p8"/>
          <p:cNvSpPr/>
          <p:nvPr/>
        </p:nvSpPr>
        <p:spPr>
          <a:xfrm>
            <a:off x="502920" y="4041648"/>
            <a:ext cx="80467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Los casos actuales dependen fuertemente de los casos pasados (inercia epidémica). Los rezagos capturan esa autocorrelación temporal. Las pruebas diagnósticas como rezago operan como proxy de la detección activa del sistema de salud.</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232" name="Shape 232"/>
        <p:cNvGrpSpPr/>
        <p:nvPr/>
      </p:nvGrpSpPr>
      <p:grpSpPr>
        <a:xfrm>
          <a:off x="0" y="0"/>
          <a:ext cx="0" cy="0"/>
          <a:chOff x="0" y="0"/>
          <a:chExt cx="0" cy="0"/>
        </a:xfrm>
      </p:grpSpPr>
      <p:sp>
        <p:nvSpPr>
          <p:cNvPr id="233" name="Google Shape;233;p9"/>
          <p:cNvSpPr/>
          <p:nvPr/>
        </p:nvSpPr>
        <p:spPr>
          <a:xfrm>
            <a:off x="0" y="0"/>
            <a:ext cx="164592" cy="5143500"/>
          </a:xfrm>
          <a:prstGeom prst="rect">
            <a:avLst/>
          </a:prstGeom>
          <a:solidFill>
            <a:srgbClr val="F9A825"/>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Métricas de Validación del Modelo Predictivo</a:t>
            </a:r>
            <a:endParaRPr sz="2200">
              <a:solidFill>
                <a:schemeClr val="dk1"/>
              </a:solidFill>
              <a:latin typeface="Calibri"/>
              <a:ea typeface="Calibri"/>
              <a:cs typeface="Calibri"/>
              <a:sym typeface="Calibri"/>
            </a:endParaRPr>
          </a:p>
        </p:txBody>
      </p:sp>
      <p:sp>
        <p:nvSpPr>
          <p:cNvPr id="235" name="Google Shape;235;p9"/>
          <p:cNvSpPr/>
          <p:nvPr/>
        </p:nvSpPr>
        <p:spPr>
          <a:xfrm>
            <a:off x="457200" y="804672"/>
            <a:ext cx="8229600" cy="27432"/>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8 / 14</a:t>
            </a:r>
            <a:endParaRPr sz="900">
              <a:solidFill>
                <a:schemeClr val="dk1"/>
              </a:solidFill>
              <a:latin typeface="Calibri"/>
              <a:ea typeface="Calibri"/>
              <a:cs typeface="Calibri"/>
              <a:sym typeface="Calibri"/>
            </a:endParaRPr>
          </a:p>
        </p:txBody>
      </p:sp>
      <p:pic>
        <p:nvPicPr>
          <p:cNvPr descr="preencoded.png" id="237" name="Google Shape;237;p9"/>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238" name="Google Shape;238;p9"/>
          <p:cNvSpPr/>
          <p:nvPr/>
        </p:nvSpPr>
        <p:spPr>
          <a:xfrm>
            <a:off x="320040" y="960120"/>
            <a:ext cx="2011680" cy="1417320"/>
          </a:xfrm>
          <a:prstGeom prst="rect">
            <a:avLst/>
          </a:prstGeom>
          <a:solidFill>
            <a:srgbClr val="1C3553"/>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393192" y="1033272"/>
            <a:ext cx="1865376" cy="7086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Trebuchet MS"/>
              <a:buNone/>
            </a:pPr>
            <a:r>
              <a:rPr b="1" lang="en-US" sz="2600">
                <a:solidFill>
                  <a:srgbClr val="FFFFFF"/>
                </a:solidFill>
                <a:latin typeface="Trebuchet MS"/>
                <a:ea typeface="Trebuchet MS"/>
                <a:cs typeface="Trebuchet MS"/>
                <a:sym typeface="Trebuchet MS"/>
              </a:rPr>
              <a:t>51.41</a:t>
            </a:r>
            <a:endParaRPr sz="2600">
              <a:solidFill>
                <a:schemeClr val="dk1"/>
              </a:solidFill>
              <a:latin typeface="Calibri"/>
              <a:ea typeface="Calibri"/>
              <a:cs typeface="Calibri"/>
              <a:sym typeface="Calibri"/>
            </a:endParaRPr>
          </a:p>
        </p:txBody>
      </p:sp>
      <p:sp>
        <p:nvSpPr>
          <p:cNvPr id="240" name="Google Shape;240;p9"/>
          <p:cNvSpPr/>
          <p:nvPr/>
        </p:nvSpPr>
        <p:spPr>
          <a:xfrm>
            <a:off x="374904" y="1739646"/>
            <a:ext cx="1901952" cy="36850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MAE</a:t>
            </a:r>
            <a:endParaRPr sz="950">
              <a:solidFill>
                <a:schemeClr val="dk1"/>
              </a:solidFill>
              <a:latin typeface="Calibri"/>
              <a:ea typeface="Calibri"/>
              <a:cs typeface="Calibri"/>
              <a:sym typeface="Calibri"/>
            </a:endParaRPr>
          </a:p>
        </p:txBody>
      </p:sp>
      <p:sp>
        <p:nvSpPr>
          <p:cNvPr id="241" name="Google Shape;241;p9"/>
          <p:cNvSpPr/>
          <p:nvPr/>
        </p:nvSpPr>
        <p:spPr>
          <a:xfrm>
            <a:off x="374904" y="2093976"/>
            <a:ext cx="1901952" cy="25511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Error Absoluto Medio (casos)</a:t>
            </a:r>
            <a:endParaRPr sz="750">
              <a:solidFill>
                <a:schemeClr val="dk1"/>
              </a:solidFill>
              <a:latin typeface="Calibri"/>
              <a:ea typeface="Calibri"/>
              <a:cs typeface="Calibri"/>
              <a:sym typeface="Calibri"/>
            </a:endParaRPr>
          </a:p>
        </p:txBody>
      </p:sp>
      <p:sp>
        <p:nvSpPr>
          <p:cNvPr id="242" name="Google Shape;242;p9"/>
          <p:cNvSpPr/>
          <p:nvPr/>
        </p:nvSpPr>
        <p:spPr>
          <a:xfrm>
            <a:off x="2423160" y="960120"/>
            <a:ext cx="2011680" cy="1417320"/>
          </a:xfrm>
          <a:prstGeom prst="rect">
            <a:avLst/>
          </a:prstGeom>
          <a:solidFill>
            <a:srgbClr val="1C3553"/>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2496312" y="1033272"/>
            <a:ext cx="1865376" cy="7086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Trebuchet MS"/>
              <a:buNone/>
            </a:pPr>
            <a:r>
              <a:rPr b="1" lang="en-US" sz="2600">
                <a:solidFill>
                  <a:srgbClr val="FFFFFF"/>
                </a:solidFill>
                <a:latin typeface="Trebuchet MS"/>
                <a:ea typeface="Trebuchet MS"/>
                <a:cs typeface="Trebuchet MS"/>
                <a:sym typeface="Trebuchet MS"/>
              </a:rPr>
              <a:t>62.98</a:t>
            </a:r>
            <a:endParaRPr sz="2600">
              <a:solidFill>
                <a:schemeClr val="dk1"/>
              </a:solidFill>
              <a:latin typeface="Calibri"/>
              <a:ea typeface="Calibri"/>
              <a:cs typeface="Calibri"/>
              <a:sym typeface="Calibri"/>
            </a:endParaRPr>
          </a:p>
        </p:txBody>
      </p:sp>
      <p:sp>
        <p:nvSpPr>
          <p:cNvPr id="244" name="Google Shape;244;p9"/>
          <p:cNvSpPr/>
          <p:nvPr/>
        </p:nvSpPr>
        <p:spPr>
          <a:xfrm>
            <a:off x="2478024" y="1739646"/>
            <a:ext cx="1901952" cy="36850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RMSE</a:t>
            </a:r>
            <a:endParaRPr sz="950">
              <a:solidFill>
                <a:schemeClr val="dk1"/>
              </a:solidFill>
              <a:latin typeface="Calibri"/>
              <a:ea typeface="Calibri"/>
              <a:cs typeface="Calibri"/>
              <a:sym typeface="Calibri"/>
            </a:endParaRPr>
          </a:p>
        </p:txBody>
      </p:sp>
      <p:sp>
        <p:nvSpPr>
          <p:cNvPr id="245" name="Google Shape;245;p9"/>
          <p:cNvSpPr/>
          <p:nvPr/>
        </p:nvSpPr>
        <p:spPr>
          <a:xfrm>
            <a:off x="2478024" y="2093976"/>
            <a:ext cx="1901952" cy="25511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Raíz Error Cuadrático Medio</a:t>
            </a:r>
            <a:endParaRPr sz="750">
              <a:solidFill>
                <a:schemeClr val="dk1"/>
              </a:solidFill>
              <a:latin typeface="Calibri"/>
              <a:ea typeface="Calibri"/>
              <a:cs typeface="Calibri"/>
              <a:sym typeface="Calibri"/>
            </a:endParaRPr>
          </a:p>
        </p:txBody>
      </p:sp>
      <p:sp>
        <p:nvSpPr>
          <p:cNvPr id="246" name="Google Shape;246;p9"/>
          <p:cNvSpPr/>
          <p:nvPr/>
        </p:nvSpPr>
        <p:spPr>
          <a:xfrm>
            <a:off x="4526280" y="960120"/>
            <a:ext cx="2011680" cy="1417320"/>
          </a:xfrm>
          <a:prstGeom prst="rect">
            <a:avLst/>
          </a:prstGeom>
          <a:solidFill>
            <a:srgbClr val="143A28"/>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4599432" y="1033272"/>
            <a:ext cx="1865376" cy="7086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Trebuchet MS"/>
              <a:buNone/>
            </a:pPr>
            <a:r>
              <a:rPr b="1" lang="en-US" sz="2600">
                <a:solidFill>
                  <a:srgbClr val="FFFFFF"/>
                </a:solidFill>
                <a:latin typeface="Trebuchet MS"/>
                <a:ea typeface="Trebuchet MS"/>
                <a:cs typeface="Trebuchet MS"/>
                <a:sym typeface="Trebuchet MS"/>
              </a:rPr>
              <a:t>0.987</a:t>
            </a:r>
            <a:endParaRPr sz="2600">
              <a:solidFill>
                <a:schemeClr val="dk1"/>
              </a:solidFill>
              <a:latin typeface="Calibri"/>
              <a:ea typeface="Calibri"/>
              <a:cs typeface="Calibri"/>
              <a:sym typeface="Calibri"/>
            </a:endParaRPr>
          </a:p>
        </p:txBody>
      </p:sp>
      <p:sp>
        <p:nvSpPr>
          <p:cNvPr id="248" name="Google Shape;248;p9"/>
          <p:cNvSpPr/>
          <p:nvPr/>
        </p:nvSpPr>
        <p:spPr>
          <a:xfrm>
            <a:off x="4581144" y="1739646"/>
            <a:ext cx="1901952" cy="36850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R²</a:t>
            </a:r>
            <a:endParaRPr sz="950">
              <a:solidFill>
                <a:schemeClr val="dk1"/>
              </a:solidFill>
              <a:latin typeface="Calibri"/>
              <a:ea typeface="Calibri"/>
              <a:cs typeface="Calibri"/>
              <a:sym typeface="Calibri"/>
            </a:endParaRPr>
          </a:p>
        </p:txBody>
      </p:sp>
      <p:sp>
        <p:nvSpPr>
          <p:cNvPr id="249" name="Google Shape;249;p9"/>
          <p:cNvSpPr/>
          <p:nvPr/>
        </p:nvSpPr>
        <p:spPr>
          <a:xfrm>
            <a:off x="4581144" y="2093976"/>
            <a:ext cx="1901952" cy="25511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Varianza explicada: 98.7%</a:t>
            </a:r>
            <a:endParaRPr sz="750">
              <a:solidFill>
                <a:schemeClr val="dk1"/>
              </a:solidFill>
              <a:latin typeface="Calibri"/>
              <a:ea typeface="Calibri"/>
              <a:cs typeface="Calibri"/>
              <a:sym typeface="Calibri"/>
            </a:endParaRPr>
          </a:p>
        </p:txBody>
      </p:sp>
      <p:sp>
        <p:nvSpPr>
          <p:cNvPr id="250" name="Google Shape;250;p9"/>
          <p:cNvSpPr/>
          <p:nvPr/>
        </p:nvSpPr>
        <p:spPr>
          <a:xfrm>
            <a:off x="6629400" y="960120"/>
            <a:ext cx="2011680" cy="1417320"/>
          </a:xfrm>
          <a:prstGeom prst="rect">
            <a:avLst/>
          </a:prstGeom>
          <a:solidFill>
            <a:srgbClr val="3A2D0E"/>
          </a:solidFill>
          <a:ln>
            <a:noFill/>
          </a:ln>
          <a:effectLst>
            <a:outerShdw blurRad="101600" rotWithShape="0" algn="bl" dir="81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6702552" y="1033272"/>
            <a:ext cx="1865376" cy="7086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Trebuchet MS"/>
              <a:buNone/>
            </a:pPr>
            <a:r>
              <a:rPr b="1" lang="en-US" sz="2600">
                <a:solidFill>
                  <a:srgbClr val="FFFFFF"/>
                </a:solidFill>
                <a:latin typeface="Trebuchet MS"/>
                <a:ea typeface="Trebuchet MS"/>
                <a:cs typeface="Trebuchet MS"/>
                <a:sym typeface="Trebuchet MS"/>
              </a:rPr>
              <a:t>2.73%</a:t>
            </a:r>
            <a:endParaRPr sz="2600">
              <a:solidFill>
                <a:schemeClr val="dk1"/>
              </a:solidFill>
              <a:latin typeface="Calibri"/>
              <a:ea typeface="Calibri"/>
              <a:cs typeface="Calibri"/>
              <a:sym typeface="Calibri"/>
            </a:endParaRPr>
          </a:p>
        </p:txBody>
      </p:sp>
      <p:sp>
        <p:nvSpPr>
          <p:cNvPr id="252" name="Google Shape;252;p9"/>
          <p:cNvSpPr/>
          <p:nvPr/>
        </p:nvSpPr>
        <p:spPr>
          <a:xfrm>
            <a:off x="6684264" y="1739646"/>
            <a:ext cx="1901952" cy="36850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MAPE</a:t>
            </a:r>
            <a:endParaRPr sz="950">
              <a:solidFill>
                <a:schemeClr val="dk1"/>
              </a:solidFill>
              <a:latin typeface="Calibri"/>
              <a:ea typeface="Calibri"/>
              <a:cs typeface="Calibri"/>
              <a:sym typeface="Calibri"/>
            </a:endParaRPr>
          </a:p>
        </p:txBody>
      </p:sp>
      <p:sp>
        <p:nvSpPr>
          <p:cNvPr id="253" name="Google Shape;253;p9"/>
          <p:cNvSpPr/>
          <p:nvPr/>
        </p:nvSpPr>
        <p:spPr>
          <a:xfrm>
            <a:off x="6684264" y="2093976"/>
            <a:ext cx="1901952" cy="25511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lang="en-US" sz="750">
                <a:solidFill>
                  <a:srgbClr val="FFFFFF"/>
                </a:solidFill>
                <a:latin typeface="Calibri"/>
                <a:ea typeface="Calibri"/>
                <a:cs typeface="Calibri"/>
                <a:sym typeface="Calibri"/>
              </a:rPr>
              <a:t>Error porcentual medio</a:t>
            </a:r>
            <a:endParaRPr sz="750">
              <a:solidFill>
                <a:schemeClr val="dk1"/>
              </a:solidFill>
              <a:latin typeface="Calibri"/>
              <a:ea typeface="Calibri"/>
              <a:cs typeface="Calibri"/>
              <a:sym typeface="Calibri"/>
            </a:endParaRPr>
          </a:p>
        </p:txBody>
      </p:sp>
      <p:sp>
        <p:nvSpPr>
          <p:cNvPr id="254" name="Google Shape;254;p9"/>
          <p:cNvSpPr/>
          <p:nvPr/>
        </p:nvSpPr>
        <p:spPr>
          <a:xfrm>
            <a:off x="320040" y="2487168"/>
            <a:ext cx="2651760" cy="2377440"/>
          </a:xfrm>
          <a:prstGeom prst="rect">
            <a:avLst/>
          </a:prstGeom>
          <a:solidFill>
            <a:srgbClr val="193350"/>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411480" y="2542032"/>
            <a:ext cx="2468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lang="en-US" sz="1200">
                <a:solidFill>
                  <a:srgbClr val="F9A825"/>
                </a:solidFill>
                <a:latin typeface="Trebuchet MS"/>
                <a:ea typeface="Trebuchet MS"/>
                <a:cs typeface="Trebuchet MS"/>
                <a:sym typeface="Trebuchet MS"/>
              </a:rPr>
              <a:t>MAE &amp; RMSE</a:t>
            </a:r>
            <a:endParaRPr sz="1200">
              <a:solidFill>
                <a:schemeClr val="dk1"/>
              </a:solidFill>
              <a:latin typeface="Calibri"/>
              <a:ea typeface="Calibri"/>
              <a:cs typeface="Calibri"/>
              <a:sym typeface="Calibri"/>
            </a:endParaRPr>
          </a:p>
        </p:txBody>
      </p:sp>
      <p:sp>
        <p:nvSpPr>
          <p:cNvPr id="256" name="Google Shape;256;p9"/>
          <p:cNvSpPr/>
          <p:nvPr/>
        </p:nvSpPr>
        <p:spPr>
          <a:xfrm>
            <a:off x="411480" y="2907792"/>
            <a:ext cx="2468880" cy="1874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En promedio, el modelo se equivoca en ~51 casos diarios. El RMSE algo mayor indica la presencia de algunos errores mayores en días de cambio rápido.</a:t>
            </a:r>
            <a:endParaRPr sz="1100">
              <a:solidFill>
                <a:schemeClr val="dk1"/>
              </a:solidFill>
              <a:latin typeface="Calibri"/>
              <a:ea typeface="Calibri"/>
              <a:cs typeface="Calibri"/>
              <a:sym typeface="Calibri"/>
            </a:endParaRPr>
          </a:p>
        </p:txBody>
      </p:sp>
      <p:sp>
        <p:nvSpPr>
          <p:cNvPr id="257" name="Google Shape;257;p9"/>
          <p:cNvSpPr/>
          <p:nvPr/>
        </p:nvSpPr>
        <p:spPr>
          <a:xfrm>
            <a:off x="3246120" y="2487168"/>
            <a:ext cx="2651760" cy="2377440"/>
          </a:xfrm>
          <a:prstGeom prst="rect">
            <a:avLst/>
          </a:prstGeom>
          <a:solidFill>
            <a:srgbClr val="122E20"/>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3337560" y="2542032"/>
            <a:ext cx="2468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lang="en-US" sz="1200">
                <a:solidFill>
                  <a:srgbClr val="F9A825"/>
                </a:solidFill>
                <a:latin typeface="Trebuchet MS"/>
                <a:ea typeface="Trebuchet MS"/>
                <a:cs typeface="Trebuchet MS"/>
                <a:sym typeface="Trebuchet MS"/>
              </a:rPr>
              <a:t>R² = 0.987</a:t>
            </a:r>
            <a:endParaRPr sz="1200">
              <a:solidFill>
                <a:schemeClr val="dk1"/>
              </a:solidFill>
              <a:latin typeface="Calibri"/>
              <a:ea typeface="Calibri"/>
              <a:cs typeface="Calibri"/>
              <a:sym typeface="Calibri"/>
            </a:endParaRPr>
          </a:p>
        </p:txBody>
      </p:sp>
      <p:sp>
        <p:nvSpPr>
          <p:cNvPr id="259" name="Google Shape;259;p9"/>
          <p:cNvSpPr/>
          <p:nvPr/>
        </p:nvSpPr>
        <p:spPr>
          <a:xfrm>
            <a:off x="3337560" y="2907792"/>
            <a:ext cx="2468880" cy="1874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El modelo explica el 98.7% de la varianza de la media móvil de casos. Indica un ajuste excelente para una serie epidémica.</a:t>
            </a:r>
            <a:endParaRPr sz="1100">
              <a:solidFill>
                <a:schemeClr val="dk1"/>
              </a:solidFill>
              <a:latin typeface="Calibri"/>
              <a:ea typeface="Calibri"/>
              <a:cs typeface="Calibri"/>
              <a:sym typeface="Calibri"/>
            </a:endParaRPr>
          </a:p>
        </p:txBody>
      </p:sp>
      <p:sp>
        <p:nvSpPr>
          <p:cNvPr id="260" name="Google Shape;260;p9"/>
          <p:cNvSpPr/>
          <p:nvPr/>
        </p:nvSpPr>
        <p:spPr>
          <a:xfrm>
            <a:off x="6172200" y="2487168"/>
            <a:ext cx="2651760" cy="2377440"/>
          </a:xfrm>
          <a:prstGeom prst="rect">
            <a:avLst/>
          </a:prstGeom>
          <a:solidFill>
            <a:srgbClr val="2E2506"/>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6263640" y="2542032"/>
            <a:ext cx="2468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lang="en-US" sz="1200">
                <a:solidFill>
                  <a:srgbClr val="F9A825"/>
                </a:solidFill>
                <a:latin typeface="Trebuchet MS"/>
                <a:ea typeface="Trebuchet MS"/>
                <a:cs typeface="Trebuchet MS"/>
                <a:sym typeface="Trebuchet MS"/>
              </a:rPr>
              <a:t>MAPE = 2.73%</a:t>
            </a:r>
            <a:endParaRPr sz="1200">
              <a:solidFill>
                <a:schemeClr val="dk1"/>
              </a:solidFill>
              <a:latin typeface="Calibri"/>
              <a:ea typeface="Calibri"/>
              <a:cs typeface="Calibri"/>
              <a:sym typeface="Calibri"/>
            </a:endParaRPr>
          </a:p>
        </p:txBody>
      </p:sp>
      <p:sp>
        <p:nvSpPr>
          <p:cNvPr id="262" name="Google Shape;262;p9"/>
          <p:cNvSpPr/>
          <p:nvPr/>
        </p:nvSpPr>
        <p:spPr>
          <a:xfrm>
            <a:off x="6263640" y="2907792"/>
            <a:ext cx="2468880" cy="1874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El error porcentual medio es menor al 3%, lo que categoriza el modelo como de muy alta precisión según estándares internacionales.</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267" name="Shape 267"/>
        <p:cNvGrpSpPr/>
        <p:nvPr/>
      </p:nvGrpSpPr>
      <p:grpSpPr>
        <a:xfrm>
          <a:off x="0" y="0"/>
          <a:ext cx="0" cy="0"/>
          <a:chOff x="0" y="0"/>
          <a:chExt cx="0" cy="0"/>
        </a:xfrm>
      </p:grpSpPr>
      <p:sp>
        <p:nvSpPr>
          <p:cNvPr id="268" name="Google Shape;268;p10"/>
          <p:cNvSpPr/>
          <p:nvPr/>
        </p:nvSpPr>
        <p:spPr>
          <a:xfrm>
            <a:off x="0" y="0"/>
            <a:ext cx="9144000" cy="13716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0" y="5006340"/>
            <a:ext cx="9144000" cy="13716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9 / 14</a:t>
            </a:r>
            <a:endParaRPr sz="900">
              <a:solidFill>
                <a:schemeClr val="dk1"/>
              </a:solidFill>
              <a:latin typeface="Calibri"/>
              <a:ea typeface="Calibri"/>
              <a:cs typeface="Calibri"/>
              <a:sym typeface="Calibri"/>
            </a:endParaRPr>
          </a:p>
        </p:txBody>
      </p:sp>
      <p:pic>
        <p:nvPicPr>
          <p:cNvPr descr="preencoded.png" id="271" name="Google Shape;271;p10"/>
          <p:cNvPicPr preferRelativeResize="0"/>
          <p:nvPr/>
        </p:nvPicPr>
        <p:blipFill rotWithShape="1">
          <a:blip r:embed="rId3">
            <a:alphaModFix/>
          </a:blip>
          <a:srcRect b="0" l="0" r="0" t="0"/>
          <a:stretch/>
        </p:blipFill>
        <p:spPr>
          <a:xfrm>
            <a:off x="4114800" y="640080"/>
            <a:ext cx="914400" cy="914400"/>
          </a:xfrm>
          <a:prstGeom prst="rect">
            <a:avLst/>
          </a:prstGeom>
          <a:noFill/>
          <a:ln>
            <a:noFill/>
          </a:ln>
        </p:spPr>
      </p:pic>
      <p:sp>
        <p:nvSpPr>
          <p:cNvPr id="272" name="Google Shape;272;p10"/>
          <p:cNvSpPr/>
          <p:nvPr/>
        </p:nvSpPr>
        <p:spPr>
          <a:xfrm>
            <a:off x="457200" y="1645920"/>
            <a:ext cx="8229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Demostración en Vivo</a:t>
            </a:r>
            <a:endParaRPr sz="3200">
              <a:solidFill>
                <a:schemeClr val="dk1"/>
              </a:solidFill>
              <a:latin typeface="Calibri"/>
              <a:ea typeface="Calibri"/>
              <a:cs typeface="Calibri"/>
              <a:sym typeface="Calibri"/>
            </a:endParaRPr>
          </a:p>
        </p:txBody>
      </p:sp>
      <p:sp>
        <p:nvSpPr>
          <p:cNvPr id="273" name="Google Shape;273;p10"/>
          <p:cNvSpPr/>
          <p:nvPr/>
        </p:nvSpPr>
        <p:spPr>
          <a:xfrm>
            <a:off x="457200" y="2286000"/>
            <a:ext cx="82296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CAE6"/>
              </a:buClr>
              <a:buSzPts val="1800"/>
              <a:buFont typeface="Trebuchet MS"/>
              <a:buNone/>
            </a:pPr>
            <a:r>
              <a:rPr lang="en-US" sz="1800">
                <a:solidFill>
                  <a:srgbClr val="8ECAE6"/>
                </a:solidFill>
                <a:latin typeface="Trebuchet MS"/>
                <a:ea typeface="Trebuchet MS"/>
                <a:cs typeface="Trebuchet MS"/>
                <a:sym typeface="Trebuchet MS"/>
              </a:rPr>
              <a:t>Dashboard Interactivo del Proyecto</a:t>
            </a:r>
            <a:endParaRPr sz="1800">
              <a:solidFill>
                <a:schemeClr val="dk1"/>
              </a:solidFill>
              <a:latin typeface="Calibri"/>
              <a:ea typeface="Calibri"/>
              <a:cs typeface="Calibri"/>
              <a:sym typeface="Calibri"/>
            </a:endParaRPr>
          </a:p>
        </p:txBody>
      </p:sp>
      <p:sp>
        <p:nvSpPr>
          <p:cNvPr id="274" name="Google Shape;274;p10"/>
          <p:cNvSpPr/>
          <p:nvPr/>
        </p:nvSpPr>
        <p:spPr>
          <a:xfrm>
            <a:off x="2286000" y="2834640"/>
            <a:ext cx="4572000" cy="36576"/>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457200" y="297180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C8FAA"/>
              </a:buClr>
              <a:buSzPts val="1100"/>
              <a:buFont typeface="Calibri"/>
              <a:buNone/>
            </a:pPr>
            <a:r>
              <a:rPr lang="en-US" sz="1100">
                <a:solidFill>
                  <a:srgbClr val="5C8FAA"/>
                </a:solidFill>
                <a:latin typeface="Calibri"/>
                <a:ea typeface="Calibri"/>
                <a:cs typeface="Calibri"/>
                <a:sym typeface="Calibri"/>
              </a:rPr>
              <a:t>Evolución acumulada de indicadores   ·   Incidencia diaria y suavizada   ·   Modelo observado vs. predicho   ·   Resumen mensual · Heatmap · Boxplot</a:t>
            </a:r>
            <a:endParaRPr sz="1100">
              <a:solidFill>
                <a:schemeClr val="dk1"/>
              </a:solidFill>
              <a:latin typeface="Calibri"/>
              <a:ea typeface="Calibri"/>
              <a:cs typeface="Calibri"/>
              <a:sym typeface="Calibri"/>
            </a:endParaRPr>
          </a:p>
        </p:txBody>
      </p:sp>
      <p:sp>
        <p:nvSpPr>
          <p:cNvPr id="276" name="Google Shape;276;p10"/>
          <p:cNvSpPr/>
          <p:nvPr/>
        </p:nvSpPr>
        <p:spPr>
          <a:xfrm>
            <a:off x="2926080" y="3520440"/>
            <a:ext cx="3291840" cy="685800"/>
          </a:xfrm>
          <a:prstGeom prst="rect">
            <a:avLst/>
          </a:prstGeom>
          <a:solidFill>
            <a:srgbClr val="00897B"/>
          </a:solidFill>
          <a:ln cap="flat" cmpd="sng" w="12700">
            <a:solidFill>
              <a:srgbClr val="00897B"/>
            </a:solidFill>
            <a:prstDash val="solid"/>
            <a:round/>
            <a:headEnd len="sm" w="sm" type="none"/>
            <a:tailEnd len="sm" w="sm" type="none"/>
          </a:ln>
          <a:effectLst>
            <a:outerShdw blurRad="152400" rotWithShape="0" algn="bl" dir="8100000" dist="508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2926080" y="3520440"/>
            <a:ext cx="32918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  Abrir dashboard ahora</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82" name="Shape 282"/>
        <p:cNvGrpSpPr/>
        <p:nvPr/>
      </p:nvGrpSpPr>
      <p:grpSpPr>
        <a:xfrm>
          <a:off x="0" y="0"/>
          <a:ext cx="0" cy="0"/>
          <a:chOff x="0" y="0"/>
          <a:chExt cx="0" cy="0"/>
        </a:xfrm>
      </p:grpSpPr>
      <p:sp>
        <p:nvSpPr>
          <p:cNvPr id="283" name="Google Shape;283;p11"/>
          <p:cNvSpPr/>
          <p:nvPr/>
        </p:nvSpPr>
        <p:spPr>
          <a:xfrm>
            <a:off x="0" y="0"/>
            <a:ext cx="9144000" cy="96012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137"/>
              </a:buClr>
              <a:buSzPts val="2200"/>
              <a:buFont typeface="Trebuchet MS"/>
              <a:buNone/>
            </a:pPr>
            <a:r>
              <a:rPr b="1" lang="en-US" sz="2200">
                <a:solidFill>
                  <a:srgbClr val="0D2137"/>
                </a:solidFill>
                <a:latin typeface="Trebuchet MS"/>
                <a:ea typeface="Trebuchet MS"/>
                <a:cs typeface="Trebuchet MS"/>
                <a:sym typeface="Trebuchet MS"/>
              </a:rPr>
              <a:t>Hallazgos Visuales del Dashboard</a:t>
            </a:r>
            <a:endParaRPr sz="2200">
              <a:solidFill>
                <a:schemeClr val="dk1"/>
              </a:solidFill>
              <a:latin typeface="Calibri"/>
              <a:ea typeface="Calibri"/>
              <a:cs typeface="Calibri"/>
              <a:sym typeface="Calibri"/>
            </a:endParaRPr>
          </a:p>
        </p:txBody>
      </p:sp>
      <p:sp>
        <p:nvSpPr>
          <p:cNvPr id="285" name="Google Shape;285;p11"/>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10 / 14</a:t>
            </a:r>
            <a:endParaRPr sz="900">
              <a:solidFill>
                <a:schemeClr val="dk1"/>
              </a:solidFill>
              <a:latin typeface="Calibri"/>
              <a:ea typeface="Calibri"/>
              <a:cs typeface="Calibri"/>
              <a:sym typeface="Calibri"/>
            </a:endParaRPr>
          </a:p>
        </p:txBody>
      </p:sp>
      <p:sp>
        <p:nvSpPr>
          <p:cNvPr id="286" name="Google Shape;286;p11"/>
          <p:cNvSpPr/>
          <p:nvPr/>
        </p:nvSpPr>
        <p:spPr>
          <a:xfrm>
            <a:off x="320040" y="1051560"/>
            <a:ext cx="4023360" cy="1664208"/>
          </a:xfrm>
          <a:prstGeom prst="rect">
            <a:avLst/>
          </a:prstGeom>
          <a:solidFill>
            <a:srgbClr val="E3F2FD"/>
          </a:solidFill>
          <a:ln cap="flat" cmpd="sng" w="12700">
            <a:solidFill>
              <a:srgbClr val="90CA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7" name="Google Shape;287;p11"/>
          <p:cNvPicPr preferRelativeResize="0"/>
          <p:nvPr/>
        </p:nvPicPr>
        <p:blipFill rotWithShape="1">
          <a:blip r:embed="rId3">
            <a:alphaModFix/>
          </a:blip>
          <a:srcRect b="0" l="0" r="0" t="0"/>
          <a:stretch/>
        </p:blipFill>
        <p:spPr>
          <a:xfrm>
            <a:off x="429768" y="1188720"/>
            <a:ext cx="347472" cy="347472"/>
          </a:xfrm>
          <a:prstGeom prst="rect">
            <a:avLst/>
          </a:prstGeom>
          <a:noFill/>
          <a:ln>
            <a:noFill/>
          </a:ln>
        </p:spPr>
      </p:pic>
      <p:sp>
        <p:nvSpPr>
          <p:cNvPr id="288" name="Google Shape;288;p11"/>
          <p:cNvSpPr/>
          <p:nvPr/>
        </p:nvSpPr>
        <p:spPr>
          <a:xfrm>
            <a:off x="822960" y="1197864"/>
            <a:ext cx="3383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200"/>
              <a:buFont typeface="Trebuchet MS"/>
              <a:buNone/>
            </a:pPr>
            <a:r>
              <a:rPr b="1" lang="en-US" sz="1200">
                <a:solidFill>
                  <a:srgbClr val="0D2137"/>
                </a:solidFill>
                <a:latin typeface="Trebuchet MS"/>
                <a:ea typeface="Trebuchet MS"/>
                <a:cs typeface="Trebuchet MS"/>
                <a:sym typeface="Trebuchet MS"/>
              </a:rPr>
              <a:t>Evolución acumulada</a:t>
            </a:r>
            <a:endParaRPr sz="1200">
              <a:solidFill>
                <a:schemeClr val="dk1"/>
              </a:solidFill>
              <a:latin typeface="Calibri"/>
              <a:ea typeface="Calibri"/>
              <a:cs typeface="Calibri"/>
              <a:sym typeface="Calibri"/>
            </a:endParaRPr>
          </a:p>
        </p:txBody>
      </p:sp>
      <p:sp>
        <p:nvSpPr>
          <p:cNvPr id="289" name="Google Shape;289;p11"/>
          <p:cNvSpPr/>
          <p:nvPr/>
        </p:nvSpPr>
        <p:spPr>
          <a:xfrm>
            <a:off x="457200" y="1581912"/>
            <a:ext cx="374904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La curva acumulada muestra tres fases de aceleración, separadas por períodos de desaceleración que coinciden con medidas de contención.</a:t>
            </a:r>
            <a:endParaRPr sz="1100">
              <a:solidFill>
                <a:schemeClr val="dk1"/>
              </a:solidFill>
              <a:latin typeface="Calibri"/>
              <a:ea typeface="Calibri"/>
              <a:cs typeface="Calibri"/>
              <a:sym typeface="Calibri"/>
            </a:endParaRPr>
          </a:p>
        </p:txBody>
      </p:sp>
      <p:sp>
        <p:nvSpPr>
          <p:cNvPr id="290" name="Google Shape;290;p11"/>
          <p:cNvSpPr/>
          <p:nvPr/>
        </p:nvSpPr>
        <p:spPr>
          <a:xfrm>
            <a:off x="320040" y="2880360"/>
            <a:ext cx="4023360" cy="1664208"/>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1"/>
          <p:cNvPicPr preferRelativeResize="0"/>
          <p:nvPr/>
        </p:nvPicPr>
        <p:blipFill rotWithShape="1">
          <a:blip r:embed="rId4">
            <a:alphaModFix/>
          </a:blip>
          <a:srcRect b="0" l="0" r="0" t="0"/>
          <a:stretch/>
        </p:blipFill>
        <p:spPr>
          <a:xfrm>
            <a:off x="429768" y="3017520"/>
            <a:ext cx="347472" cy="347472"/>
          </a:xfrm>
          <a:prstGeom prst="rect">
            <a:avLst/>
          </a:prstGeom>
          <a:noFill/>
          <a:ln>
            <a:noFill/>
          </a:ln>
        </p:spPr>
      </p:pic>
      <p:sp>
        <p:nvSpPr>
          <p:cNvPr id="292" name="Google Shape;292;p11"/>
          <p:cNvSpPr/>
          <p:nvPr/>
        </p:nvSpPr>
        <p:spPr>
          <a:xfrm>
            <a:off x="822960" y="3026664"/>
            <a:ext cx="3383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200"/>
              <a:buFont typeface="Trebuchet MS"/>
              <a:buNone/>
            </a:pPr>
            <a:r>
              <a:rPr b="1" lang="en-US" sz="1200">
                <a:solidFill>
                  <a:srgbClr val="0D2137"/>
                </a:solidFill>
                <a:latin typeface="Trebuchet MS"/>
                <a:ea typeface="Trebuchet MS"/>
                <a:cs typeface="Trebuchet MS"/>
                <a:sym typeface="Trebuchet MS"/>
              </a:rPr>
              <a:t>Observado vs. Predicho</a:t>
            </a:r>
            <a:endParaRPr sz="1200">
              <a:solidFill>
                <a:schemeClr val="dk1"/>
              </a:solidFill>
              <a:latin typeface="Calibri"/>
              <a:ea typeface="Calibri"/>
              <a:cs typeface="Calibri"/>
              <a:sym typeface="Calibri"/>
            </a:endParaRPr>
          </a:p>
        </p:txBody>
      </p:sp>
      <p:sp>
        <p:nvSpPr>
          <p:cNvPr id="293" name="Google Shape;293;p11"/>
          <p:cNvSpPr/>
          <p:nvPr/>
        </p:nvSpPr>
        <p:spPr>
          <a:xfrm>
            <a:off x="457200" y="3410712"/>
            <a:ext cx="374904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La superposición de la predicción sobre los valores reales es visual y cuantitativamente muy ajustada (R²=0.987), especialmente fuera de picos abruptos.</a:t>
            </a:r>
            <a:endParaRPr sz="1100">
              <a:solidFill>
                <a:schemeClr val="dk1"/>
              </a:solidFill>
              <a:latin typeface="Calibri"/>
              <a:ea typeface="Calibri"/>
              <a:cs typeface="Calibri"/>
              <a:sym typeface="Calibri"/>
            </a:endParaRPr>
          </a:p>
        </p:txBody>
      </p:sp>
      <p:sp>
        <p:nvSpPr>
          <p:cNvPr id="294" name="Google Shape;294;p11"/>
          <p:cNvSpPr/>
          <p:nvPr/>
        </p:nvSpPr>
        <p:spPr>
          <a:xfrm>
            <a:off x="4709160" y="1051560"/>
            <a:ext cx="4023360" cy="1664208"/>
          </a:xfrm>
          <a:prstGeom prst="rect">
            <a:avLst/>
          </a:prstGeom>
          <a:solidFill>
            <a:srgbClr val="FFF8E1"/>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5" name="Google Shape;295;p11"/>
          <p:cNvPicPr preferRelativeResize="0"/>
          <p:nvPr/>
        </p:nvPicPr>
        <p:blipFill rotWithShape="1">
          <a:blip r:embed="rId5">
            <a:alphaModFix/>
          </a:blip>
          <a:srcRect b="0" l="0" r="0" t="0"/>
          <a:stretch/>
        </p:blipFill>
        <p:spPr>
          <a:xfrm>
            <a:off x="4818888" y="1188720"/>
            <a:ext cx="347472" cy="347472"/>
          </a:xfrm>
          <a:prstGeom prst="rect">
            <a:avLst/>
          </a:prstGeom>
          <a:noFill/>
          <a:ln>
            <a:noFill/>
          </a:ln>
        </p:spPr>
      </p:pic>
      <p:sp>
        <p:nvSpPr>
          <p:cNvPr id="296" name="Google Shape;296;p11"/>
          <p:cNvSpPr/>
          <p:nvPr/>
        </p:nvSpPr>
        <p:spPr>
          <a:xfrm>
            <a:off x="5212080" y="1197864"/>
            <a:ext cx="3383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200"/>
              <a:buFont typeface="Trebuchet MS"/>
              <a:buNone/>
            </a:pPr>
            <a:r>
              <a:rPr b="1" lang="en-US" sz="1200">
                <a:solidFill>
                  <a:srgbClr val="0D2137"/>
                </a:solidFill>
                <a:latin typeface="Trebuchet MS"/>
                <a:ea typeface="Trebuchet MS"/>
                <a:cs typeface="Trebuchet MS"/>
                <a:sym typeface="Trebuchet MS"/>
              </a:rPr>
              <a:t>Heatmap de correlación</a:t>
            </a:r>
            <a:endParaRPr sz="1200">
              <a:solidFill>
                <a:schemeClr val="dk1"/>
              </a:solidFill>
              <a:latin typeface="Calibri"/>
              <a:ea typeface="Calibri"/>
              <a:cs typeface="Calibri"/>
              <a:sym typeface="Calibri"/>
            </a:endParaRPr>
          </a:p>
        </p:txBody>
      </p:sp>
      <p:sp>
        <p:nvSpPr>
          <p:cNvPr id="297" name="Google Shape;297;p11"/>
          <p:cNvSpPr/>
          <p:nvPr/>
        </p:nvSpPr>
        <p:spPr>
          <a:xfrm>
            <a:off x="4846320" y="1581912"/>
            <a:ext cx="374904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Confirma que lag1 y lag7 son los predictores más fuertes. Las pruebas diagnósticas aportan señal adicional, especialmente en períodos de alta movilidad.</a:t>
            </a:r>
            <a:endParaRPr sz="1100">
              <a:solidFill>
                <a:schemeClr val="dk1"/>
              </a:solidFill>
              <a:latin typeface="Calibri"/>
              <a:ea typeface="Calibri"/>
              <a:cs typeface="Calibri"/>
              <a:sym typeface="Calibri"/>
            </a:endParaRPr>
          </a:p>
        </p:txBody>
      </p:sp>
      <p:sp>
        <p:nvSpPr>
          <p:cNvPr id="298" name="Google Shape;298;p11"/>
          <p:cNvSpPr/>
          <p:nvPr/>
        </p:nvSpPr>
        <p:spPr>
          <a:xfrm>
            <a:off x="4709160" y="2880360"/>
            <a:ext cx="4023360" cy="1664208"/>
          </a:xfrm>
          <a:prstGeom prst="rect">
            <a:avLst/>
          </a:prstGeom>
          <a:solidFill>
            <a:srgbClr val="FCE4EC"/>
          </a:solidFill>
          <a:ln cap="flat" cmpd="sng" w="12700">
            <a:solidFill>
              <a:srgbClr val="F48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11"/>
          <p:cNvPicPr preferRelativeResize="0"/>
          <p:nvPr/>
        </p:nvPicPr>
        <p:blipFill rotWithShape="1">
          <a:blip r:embed="rId4">
            <a:alphaModFix/>
          </a:blip>
          <a:srcRect b="0" l="0" r="0" t="0"/>
          <a:stretch/>
        </p:blipFill>
        <p:spPr>
          <a:xfrm>
            <a:off x="4818888" y="3017520"/>
            <a:ext cx="347472" cy="347472"/>
          </a:xfrm>
          <a:prstGeom prst="rect">
            <a:avLst/>
          </a:prstGeom>
          <a:noFill/>
          <a:ln>
            <a:noFill/>
          </a:ln>
        </p:spPr>
      </p:pic>
      <p:sp>
        <p:nvSpPr>
          <p:cNvPr id="300" name="Google Shape;300;p11"/>
          <p:cNvSpPr/>
          <p:nvPr/>
        </p:nvSpPr>
        <p:spPr>
          <a:xfrm>
            <a:off x="5212080" y="3026664"/>
            <a:ext cx="3383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2137"/>
              </a:buClr>
              <a:buSzPts val="1200"/>
              <a:buFont typeface="Trebuchet MS"/>
              <a:buNone/>
            </a:pPr>
            <a:r>
              <a:rPr b="1" lang="en-US" sz="1200">
                <a:solidFill>
                  <a:srgbClr val="0D2137"/>
                </a:solidFill>
                <a:latin typeface="Trebuchet MS"/>
                <a:ea typeface="Trebuchet MS"/>
                <a:cs typeface="Trebuchet MS"/>
                <a:sym typeface="Trebuchet MS"/>
              </a:rPr>
              <a:t>Boxplot mensual</a:t>
            </a:r>
            <a:endParaRPr sz="1200">
              <a:solidFill>
                <a:schemeClr val="dk1"/>
              </a:solidFill>
              <a:latin typeface="Calibri"/>
              <a:ea typeface="Calibri"/>
              <a:cs typeface="Calibri"/>
              <a:sym typeface="Calibri"/>
            </a:endParaRPr>
          </a:p>
        </p:txBody>
      </p:sp>
      <p:sp>
        <p:nvSpPr>
          <p:cNvPr id="301" name="Google Shape;301;p11"/>
          <p:cNvSpPr/>
          <p:nvPr/>
        </p:nvSpPr>
        <p:spPr>
          <a:xfrm>
            <a:off x="4846320" y="3410712"/>
            <a:ext cx="374904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La dispersión de casos es máxima en junio 2021 y enero 2022, correspondientes al pico del SIR y a la ola por Ómicron respectivamente.</a:t>
            </a:r>
            <a:endParaRPr sz="1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06" name="Shape 306"/>
        <p:cNvGrpSpPr/>
        <p:nvPr/>
      </p:nvGrpSpPr>
      <p:grpSpPr>
        <a:xfrm>
          <a:off x="0" y="0"/>
          <a:ext cx="0" cy="0"/>
          <a:chOff x="0" y="0"/>
          <a:chExt cx="0" cy="0"/>
        </a:xfrm>
      </p:grpSpPr>
      <p:sp>
        <p:nvSpPr>
          <p:cNvPr id="307" name="Google Shape;307;p12"/>
          <p:cNvSpPr/>
          <p:nvPr/>
        </p:nvSpPr>
        <p:spPr>
          <a:xfrm>
            <a:off x="0" y="0"/>
            <a:ext cx="9144000" cy="960120"/>
          </a:xfrm>
          <a:prstGeom prst="rect">
            <a:avLst/>
          </a:prstGeom>
          <a:solidFill>
            <a:srgbClr val="4A1010"/>
          </a:solidFill>
          <a:ln cap="flat" cmpd="sng" w="12700">
            <a:solidFill>
              <a:srgbClr val="4A10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137"/>
              </a:buClr>
              <a:buSzPts val="2200"/>
              <a:buFont typeface="Trebuchet MS"/>
              <a:buNone/>
            </a:pPr>
            <a:r>
              <a:rPr b="1" lang="en-US" sz="2200">
                <a:solidFill>
                  <a:srgbClr val="0D2137"/>
                </a:solidFill>
                <a:highlight>
                  <a:schemeClr val="lt1"/>
                </a:highlight>
                <a:latin typeface="Trebuchet MS"/>
                <a:ea typeface="Trebuchet MS"/>
                <a:cs typeface="Trebuchet MS"/>
                <a:sym typeface="Trebuchet MS"/>
              </a:rPr>
              <a:t>Limitaciones del Estudio</a:t>
            </a:r>
            <a:endParaRPr sz="2200">
              <a:solidFill>
                <a:schemeClr val="dk1"/>
              </a:solidFill>
              <a:highlight>
                <a:schemeClr val="lt1"/>
              </a:highlight>
              <a:latin typeface="Calibri"/>
              <a:ea typeface="Calibri"/>
              <a:cs typeface="Calibri"/>
              <a:sym typeface="Calibri"/>
            </a:endParaRPr>
          </a:p>
        </p:txBody>
      </p:sp>
      <p:sp>
        <p:nvSpPr>
          <p:cNvPr id="309" name="Google Shape;309;p12"/>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BD5E1"/>
              </a:buClr>
              <a:buSzPts val="900"/>
              <a:buFont typeface="Calibri"/>
              <a:buNone/>
            </a:pPr>
            <a:r>
              <a:rPr lang="en-US" sz="900">
                <a:solidFill>
                  <a:srgbClr val="CBD5E1"/>
                </a:solidFill>
                <a:latin typeface="Calibri"/>
                <a:ea typeface="Calibri"/>
                <a:cs typeface="Calibri"/>
                <a:sym typeface="Calibri"/>
              </a:rPr>
              <a:t>11 / 14</a:t>
            </a:r>
            <a:endParaRPr sz="900">
              <a:solidFill>
                <a:schemeClr val="dk1"/>
              </a:solidFill>
              <a:latin typeface="Calibri"/>
              <a:ea typeface="Calibri"/>
              <a:cs typeface="Calibri"/>
              <a:sym typeface="Calibri"/>
            </a:endParaRPr>
          </a:p>
        </p:txBody>
      </p:sp>
      <p:pic>
        <p:nvPicPr>
          <p:cNvPr descr="preencoded.png" id="310" name="Google Shape;310;p12"/>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311" name="Google Shape;311;p12"/>
          <p:cNvSpPr/>
          <p:nvPr/>
        </p:nvSpPr>
        <p:spPr>
          <a:xfrm>
            <a:off x="320040" y="1051560"/>
            <a:ext cx="4023360" cy="1600200"/>
          </a:xfrm>
          <a:prstGeom prst="rect">
            <a:avLst/>
          </a:prstGeom>
          <a:solidFill>
            <a:srgbClr val="FDECEA"/>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320040" y="1051560"/>
            <a:ext cx="4023360" cy="320040"/>
          </a:xfrm>
          <a:prstGeom prst="rect">
            <a:avLst/>
          </a:prstGeom>
          <a:solidFill>
            <a:srgbClr val="7B1010"/>
          </a:solidFill>
          <a:ln cap="flat" cmpd="sng" w="12700">
            <a:solidFill>
              <a:srgbClr val="7B10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393192" y="1051560"/>
            <a:ext cx="387705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  SIR uniola</a:t>
            </a:r>
            <a:endParaRPr sz="1100">
              <a:solidFill>
                <a:schemeClr val="dk1"/>
              </a:solidFill>
              <a:latin typeface="Calibri"/>
              <a:ea typeface="Calibri"/>
              <a:cs typeface="Calibri"/>
              <a:sym typeface="Calibri"/>
            </a:endParaRPr>
          </a:p>
        </p:txBody>
      </p:sp>
      <p:sp>
        <p:nvSpPr>
          <p:cNvPr id="314" name="Google Shape;314;p12"/>
          <p:cNvSpPr/>
          <p:nvPr/>
        </p:nvSpPr>
        <p:spPr>
          <a:xfrm>
            <a:off x="429768" y="1435608"/>
            <a:ext cx="3803904"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El modelo SIR asume una única ola y población homogénea. La pandemia real en Colombia tuvo múltiples olas con dinámicas distintas.</a:t>
            </a:r>
            <a:endParaRPr sz="1100">
              <a:solidFill>
                <a:schemeClr val="dk1"/>
              </a:solidFill>
              <a:latin typeface="Calibri"/>
              <a:ea typeface="Calibri"/>
              <a:cs typeface="Calibri"/>
              <a:sym typeface="Calibri"/>
            </a:endParaRPr>
          </a:p>
        </p:txBody>
      </p:sp>
      <p:sp>
        <p:nvSpPr>
          <p:cNvPr id="315" name="Google Shape;315;p12"/>
          <p:cNvSpPr/>
          <p:nvPr/>
        </p:nvSpPr>
        <p:spPr>
          <a:xfrm>
            <a:off x="320040" y="2788920"/>
            <a:ext cx="4023360" cy="1600200"/>
          </a:xfrm>
          <a:prstGeom prst="rect">
            <a:avLst/>
          </a:prstGeom>
          <a:solidFill>
            <a:srgbClr val="FFF8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2"/>
          <p:cNvSpPr/>
          <p:nvPr/>
        </p:nvSpPr>
        <p:spPr>
          <a:xfrm>
            <a:off x="320040" y="2788920"/>
            <a:ext cx="4023360" cy="320040"/>
          </a:xfrm>
          <a:prstGeom prst="rect">
            <a:avLst/>
          </a:prstGeom>
          <a:solidFill>
            <a:srgbClr val="7B1010"/>
          </a:solidFill>
          <a:ln cap="flat" cmpd="sng" w="12700">
            <a:solidFill>
              <a:srgbClr val="7B10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393192" y="2788920"/>
            <a:ext cx="387705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  Subregistro</a:t>
            </a:r>
            <a:endParaRPr sz="1100">
              <a:solidFill>
                <a:schemeClr val="dk1"/>
              </a:solidFill>
              <a:latin typeface="Calibri"/>
              <a:ea typeface="Calibri"/>
              <a:cs typeface="Calibri"/>
              <a:sym typeface="Calibri"/>
            </a:endParaRPr>
          </a:p>
        </p:txBody>
      </p:sp>
      <p:sp>
        <p:nvSpPr>
          <p:cNvPr id="318" name="Google Shape;318;p12"/>
          <p:cNvSpPr/>
          <p:nvPr/>
        </p:nvSpPr>
        <p:spPr>
          <a:xfrm>
            <a:off x="429768" y="3172968"/>
            <a:ext cx="3803904"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Los datos de casos y pruebas están sujetos a subregistro, especialmente en períodos de baja capacidad diagnóstica (2020).</a:t>
            </a:r>
            <a:endParaRPr sz="1100">
              <a:solidFill>
                <a:schemeClr val="dk1"/>
              </a:solidFill>
              <a:latin typeface="Calibri"/>
              <a:ea typeface="Calibri"/>
              <a:cs typeface="Calibri"/>
              <a:sym typeface="Calibri"/>
            </a:endParaRPr>
          </a:p>
        </p:txBody>
      </p:sp>
      <p:sp>
        <p:nvSpPr>
          <p:cNvPr id="319" name="Google Shape;319;p12"/>
          <p:cNvSpPr/>
          <p:nvPr/>
        </p:nvSpPr>
        <p:spPr>
          <a:xfrm>
            <a:off x="4709160" y="1051560"/>
            <a:ext cx="4023360" cy="1600200"/>
          </a:xfrm>
          <a:prstGeom prst="rect">
            <a:avLst/>
          </a:prstGeom>
          <a:solidFill>
            <a:srgbClr val="E8F5E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4709160" y="1051560"/>
            <a:ext cx="4023360" cy="320040"/>
          </a:xfrm>
          <a:prstGeom prst="rect">
            <a:avLst/>
          </a:prstGeom>
          <a:solidFill>
            <a:srgbClr val="7B1010"/>
          </a:solidFill>
          <a:ln cap="flat" cmpd="sng" w="12700">
            <a:solidFill>
              <a:srgbClr val="7B10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4782312" y="1051560"/>
            <a:ext cx="387705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  Variables omitidas</a:t>
            </a:r>
            <a:endParaRPr sz="1100">
              <a:solidFill>
                <a:schemeClr val="dk1"/>
              </a:solidFill>
              <a:latin typeface="Calibri"/>
              <a:ea typeface="Calibri"/>
              <a:cs typeface="Calibri"/>
              <a:sym typeface="Calibri"/>
            </a:endParaRPr>
          </a:p>
        </p:txBody>
      </p:sp>
      <p:sp>
        <p:nvSpPr>
          <p:cNvPr id="322" name="Google Shape;322;p12"/>
          <p:cNvSpPr/>
          <p:nvPr/>
        </p:nvSpPr>
        <p:spPr>
          <a:xfrm>
            <a:off x="4818888" y="1435608"/>
            <a:ext cx="3803904"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El modelo de regresión no incluye variables de movilidad, vacunación, variantes virales ni medidas de política pública.</a:t>
            </a:r>
            <a:endParaRPr sz="1100">
              <a:solidFill>
                <a:schemeClr val="dk1"/>
              </a:solidFill>
              <a:latin typeface="Calibri"/>
              <a:ea typeface="Calibri"/>
              <a:cs typeface="Calibri"/>
              <a:sym typeface="Calibri"/>
            </a:endParaRPr>
          </a:p>
        </p:txBody>
      </p:sp>
      <p:sp>
        <p:nvSpPr>
          <p:cNvPr id="323" name="Google Shape;323;p12"/>
          <p:cNvSpPr/>
          <p:nvPr/>
        </p:nvSpPr>
        <p:spPr>
          <a:xfrm>
            <a:off x="4709160" y="2788920"/>
            <a:ext cx="4023360" cy="1600200"/>
          </a:xfrm>
          <a:prstGeom prst="rect">
            <a:avLst/>
          </a:prstGeom>
          <a:solidFill>
            <a:srgbClr val="E3F2FD"/>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4709160" y="2788920"/>
            <a:ext cx="4023360" cy="320040"/>
          </a:xfrm>
          <a:prstGeom prst="rect">
            <a:avLst/>
          </a:prstGeom>
          <a:solidFill>
            <a:srgbClr val="7B1010"/>
          </a:solidFill>
          <a:ln cap="flat" cmpd="sng" w="12700">
            <a:solidFill>
              <a:srgbClr val="7B10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4782312" y="2788920"/>
            <a:ext cx="387705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rPr b="1" lang="en-US" sz="1100">
                <a:solidFill>
                  <a:srgbClr val="FFFFFF"/>
                </a:solidFill>
                <a:latin typeface="Trebuchet MS"/>
                <a:ea typeface="Trebuchet MS"/>
                <a:cs typeface="Trebuchet MS"/>
                <a:sym typeface="Trebuchet MS"/>
              </a:rPr>
              <a:t>⚠  Alcance predictivo</a:t>
            </a:r>
            <a:endParaRPr sz="1100">
              <a:solidFill>
                <a:schemeClr val="dk1"/>
              </a:solidFill>
              <a:latin typeface="Calibri"/>
              <a:ea typeface="Calibri"/>
              <a:cs typeface="Calibri"/>
              <a:sym typeface="Calibri"/>
            </a:endParaRPr>
          </a:p>
        </p:txBody>
      </p:sp>
      <p:sp>
        <p:nvSpPr>
          <p:cNvPr id="326" name="Google Shape;326;p12"/>
          <p:cNvSpPr/>
          <p:nvPr/>
        </p:nvSpPr>
        <p:spPr>
          <a:xfrm>
            <a:off x="4818888" y="3172968"/>
            <a:ext cx="3803904"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B42"/>
              </a:buClr>
              <a:buSzPts val="1100"/>
              <a:buFont typeface="Calibri"/>
              <a:buNone/>
            </a:pPr>
            <a:r>
              <a:rPr lang="en-US" sz="1100">
                <a:solidFill>
                  <a:srgbClr val="1A2B42"/>
                </a:solidFill>
                <a:latin typeface="Calibri"/>
                <a:ea typeface="Calibri"/>
                <a:cs typeface="Calibri"/>
                <a:sym typeface="Calibri"/>
              </a:rPr>
              <a:t>El modelo predice bien en el corto plazo dentro del período de datos, pero puede degradarse fuera del horizonte de entrenamiento.</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331" name="Shape 331"/>
        <p:cNvGrpSpPr/>
        <p:nvPr/>
      </p:nvGrpSpPr>
      <p:grpSpPr>
        <a:xfrm>
          <a:off x="0" y="0"/>
          <a:ext cx="0" cy="0"/>
          <a:chOff x="0" y="0"/>
          <a:chExt cx="0" cy="0"/>
        </a:xfrm>
      </p:grpSpPr>
      <p:sp>
        <p:nvSpPr>
          <p:cNvPr id="332" name="Google Shape;332;p13"/>
          <p:cNvSpPr/>
          <p:nvPr/>
        </p:nvSpPr>
        <p:spPr>
          <a:xfrm>
            <a:off x="0" y="0"/>
            <a:ext cx="164592" cy="5143500"/>
          </a:xfrm>
          <a:prstGeom prst="rect">
            <a:avLst/>
          </a:prstGeom>
          <a:solidFill>
            <a:srgbClr val="F9A825"/>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457200" y="256032"/>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lang="en-US" sz="2200">
                <a:solidFill>
                  <a:srgbClr val="FFFFFF"/>
                </a:solidFill>
                <a:latin typeface="Trebuchet MS"/>
                <a:ea typeface="Trebuchet MS"/>
                <a:cs typeface="Trebuchet MS"/>
                <a:sym typeface="Trebuchet MS"/>
              </a:rPr>
              <a:t>Conclusiones</a:t>
            </a:r>
            <a:endParaRPr sz="2200">
              <a:solidFill>
                <a:schemeClr val="dk1"/>
              </a:solidFill>
              <a:latin typeface="Calibri"/>
              <a:ea typeface="Calibri"/>
              <a:cs typeface="Calibri"/>
              <a:sym typeface="Calibri"/>
            </a:endParaRPr>
          </a:p>
        </p:txBody>
      </p:sp>
      <p:sp>
        <p:nvSpPr>
          <p:cNvPr id="334" name="Google Shape;334;p13"/>
          <p:cNvSpPr/>
          <p:nvPr/>
        </p:nvSpPr>
        <p:spPr>
          <a:xfrm>
            <a:off x="457200" y="804672"/>
            <a:ext cx="8229600" cy="27432"/>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12 / 14</a:t>
            </a:r>
            <a:endParaRPr sz="900">
              <a:solidFill>
                <a:schemeClr val="dk1"/>
              </a:solidFill>
              <a:latin typeface="Calibri"/>
              <a:ea typeface="Calibri"/>
              <a:cs typeface="Calibri"/>
              <a:sym typeface="Calibri"/>
            </a:endParaRPr>
          </a:p>
        </p:txBody>
      </p:sp>
      <p:pic>
        <p:nvPicPr>
          <p:cNvPr descr="preencoded.png" id="336" name="Google Shape;336;p13"/>
          <p:cNvPicPr preferRelativeResize="0"/>
          <p:nvPr/>
        </p:nvPicPr>
        <p:blipFill rotWithShape="1">
          <a:blip r:embed="rId3">
            <a:alphaModFix/>
          </a:blip>
          <a:srcRect b="0" l="0" r="0" t="0"/>
          <a:stretch/>
        </p:blipFill>
        <p:spPr>
          <a:xfrm>
            <a:off x="8321040" y="228600"/>
            <a:ext cx="502920" cy="502920"/>
          </a:xfrm>
          <a:prstGeom prst="rect">
            <a:avLst/>
          </a:prstGeom>
          <a:noFill/>
          <a:ln>
            <a:noFill/>
          </a:ln>
        </p:spPr>
      </p:pic>
      <p:sp>
        <p:nvSpPr>
          <p:cNvPr id="337" name="Google Shape;337;p13"/>
          <p:cNvSpPr/>
          <p:nvPr/>
        </p:nvSpPr>
        <p:spPr>
          <a:xfrm>
            <a:off x="320040" y="960120"/>
            <a:ext cx="502920" cy="502920"/>
          </a:xfrm>
          <a:prstGeom prst="rect">
            <a:avLst/>
          </a:prstGeom>
          <a:solidFill>
            <a:srgbClr val="1E88E5"/>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320040" y="9601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01</a:t>
            </a:r>
            <a:endParaRPr sz="1400">
              <a:solidFill>
                <a:schemeClr val="dk1"/>
              </a:solidFill>
              <a:latin typeface="Calibri"/>
              <a:ea typeface="Calibri"/>
              <a:cs typeface="Calibri"/>
              <a:sym typeface="Calibri"/>
            </a:endParaRPr>
          </a:p>
        </p:txBody>
      </p:sp>
      <p:sp>
        <p:nvSpPr>
          <p:cNvPr id="339" name="Google Shape;339;p13"/>
          <p:cNvSpPr/>
          <p:nvPr/>
        </p:nvSpPr>
        <p:spPr>
          <a:xfrm>
            <a:off x="914400" y="996696"/>
            <a:ext cx="7772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El modelo SIR estimó un R₀ = 0.966, confirmando que en el período global la pandemia en Colombia mostró tendencia a la contención, con pico máximo el 14-jun-2021.</a:t>
            </a:r>
            <a:endParaRPr sz="1200">
              <a:solidFill>
                <a:schemeClr val="dk1"/>
              </a:solidFill>
              <a:latin typeface="Calibri"/>
              <a:ea typeface="Calibri"/>
              <a:cs typeface="Calibri"/>
              <a:sym typeface="Calibri"/>
            </a:endParaRPr>
          </a:p>
        </p:txBody>
      </p:sp>
      <p:sp>
        <p:nvSpPr>
          <p:cNvPr id="340" name="Google Shape;340;p13"/>
          <p:cNvSpPr/>
          <p:nvPr/>
        </p:nvSpPr>
        <p:spPr>
          <a:xfrm>
            <a:off x="320040" y="1965960"/>
            <a:ext cx="502920" cy="50292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p:nvPr/>
        </p:nvSpPr>
        <p:spPr>
          <a:xfrm>
            <a:off x="320040" y="19659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02</a:t>
            </a:r>
            <a:endParaRPr sz="1400">
              <a:solidFill>
                <a:schemeClr val="dk1"/>
              </a:solidFill>
              <a:latin typeface="Calibri"/>
              <a:ea typeface="Calibri"/>
              <a:cs typeface="Calibri"/>
              <a:sym typeface="Calibri"/>
            </a:endParaRPr>
          </a:p>
        </p:txBody>
      </p:sp>
      <p:sp>
        <p:nvSpPr>
          <p:cNvPr id="342" name="Google Shape;342;p13"/>
          <p:cNvSpPr/>
          <p:nvPr/>
        </p:nvSpPr>
        <p:spPr>
          <a:xfrm>
            <a:off x="914400" y="2002536"/>
            <a:ext cx="7772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El modelo de regresión temporal logró un R² = 0.987 y MAPE = 2.73%, demostrando que la dinámica reciente de casos puede explicarse en gran medida por su propia estructura temporal.</a:t>
            </a:r>
            <a:endParaRPr sz="1200">
              <a:solidFill>
                <a:schemeClr val="dk1"/>
              </a:solidFill>
              <a:latin typeface="Calibri"/>
              <a:ea typeface="Calibri"/>
              <a:cs typeface="Calibri"/>
              <a:sym typeface="Calibri"/>
            </a:endParaRPr>
          </a:p>
        </p:txBody>
      </p:sp>
      <p:sp>
        <p:nvSpPr>
          <p:cNvPr id="343" name="Google Shape;343;p13"/>
          <p:cNvSpPr/>
          <p:nvPr/>
        </p:nvSpPr>
        <p:spPr>
          <a:xfrm>
            <a:off x="320040" y="2971800"/>
            <a:ext cx="502920" cy="502920"/>
          </a:xfrm>
          <a:prstGeom prst="rect">
            <a:avLst/>
          </a:prstGeom>
          <a:solidFill>
            <a:srgbClr val="F9A825"/>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320040" y="29718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03</a:t>
            </a:r>
            <a:endParaRPr sz="1400">
              <a:solidFill>
                <a:schemeClr val="dk1"/>
              </a:solidFill>
              <a:latin typeface="Calibri"/>
              <a:ea typeface="Calibri"/>
              <a:cs typeface="Calibri"/>
              <a:sym typeface="Calibri"/>
            </a:endParaRPr>
          </a:p>
        </p:txBody>
      </p:sp>
      <p:sp>
        <p:nvSpPr>
          <p:cNvPr id="345" name="Google Shape;345;p13"/>
          <p:cNvSpPr/>
          <p:nvPr/>
        </p:nvSpPr>
        <p:spPr>
          <a:xfrm>
            <a:off x="914400" y="3008376"/>
            <a:ext cx="7772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La combinación de SIR (interpretación epidemiológica) + regresión con rezagos (capacidad predictiva) ofrece un enfoque dual robusto y complementario.</a:t>
            </a:r>
            <a:endParaRPr sz="1200">
              <a:solidFill>
                <a:schemeClr val="dk1"/>
              </a:solidFill>
              <a:latin typeface="Calibri"/>
              <a:ea typeface="Calibri"/>
              <a:cs typeface="Calibri"/>
              <a:sym typeface="Calibri"/>
            </a:endParaRPr>
          </a:p>
        </p:txBody>
      </p:sp>
      <p:sp>
        <p:nvSpPr>
          <p:cNvPr id="346" name="Google Shape;346;p13"/>
          <p:cNvSpPr/>
          <p:nvPr/>
        </p:nvSpPr>
        <p:spPr>
          <a:xfrm>
            <a:off x="320040" y="3977640"/>
            <a:ext cx="502920" cy="502920"/>
          </a:xfrm>
          <a:prstGeom prst="rect">
            <a:avLst/>
          </a:prstGeom>
          <a:solidFill>
            <a:srgbClr val="E53935"/>
          </a:solidFill>
          <a:ln cap="flat" cmpd="sng" w="12700">
            <a:solidFill>
              <a:srgbClr val="E539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320040" y="39776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04</a:t>
            </a:r>
            <a:endParaRPr sz="1400">
              <a:solidFill>
                <a:schemeClr val="dk1"/>
              </a:solidFill>
              <a:latin typeface="Calibri"/>
              <a:ea typeface="Calibri"/>
              <a:cs typeface="Calibri"/>
              <a:sym typeface="Calibri"/>
            </a:endParaRPr>
          </a:p>
        </p:txBody>
      </p:sp>
      <p:sp>
        <p:nvSpPr>
          <p:cNvPr id="348" name="Google Shape;348;p13"/>
          <p:cNvSpPr/>
          <p:nvPr/>
        </p:nvSpPr>
        <p:spPr>
          <a:xfrm>
            <a:off x="914400" y="4014216"/>
            <a:ext cx="7772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El dashboard interactivo permite visualizar integralmente la evolución de la pandemia, el ajuste del modelo y los patrones estacionales mensuales.</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137"/>
        </a:solidFill>
      </p:bgPr>
    </p:bg>
    <p:spTree>
      <p:nvGrpSpPr>
        <p:cNvPr id="353" name="Shape 353"/>
        <p:cNvGrpSpPr/>
        <p:nvPr/>
      </p:nvGrpSpPr>
      <p:grpSpPr>
        <a:xfrm>
          <a:off x="0" y="0"/>
          <a:ext cx="0" cy="0"/>
          <a:chOff x="0" y="0"/>
          <a:chExt cx="0" cy="0"/>
        </a:xfrm>
      </p:grpSpPr>
      <p:sp>
        <p:nvSpPr>
          <p:cNvPr id="354" name="Google Shape;354;p14"/>
          <p:cNvSpPr/>
          <p:nvPr/>
        </p:nvSpPr>
        <p:spPr>
          <a:xfrm>
            <a:off x="0" y="0"/>
            <a:ext cx="9144000" cy="13716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4"/>
          <p:cNvSpPr/>
          <p:nvPr/>
        </p:nvSpPr>
        <p:spPr>
          <a:xfrm>
            <a:off x="0" y="5006340"/>
            <a:ext cx="9144000" cy="137160"/>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8046720" y="4846320"/>
            <a:ext cx="73152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6080"/>
              </a:buClr>
              <a:buSzPts val="900"/>
              <a:buFont typeface="Calibri"/>
              <a:buNone/>
            </a:pPr>
            <a:r>
              <a:rPr lang="en-US" sz="900">
                <a:solidFill>
                  <a:srgbClr val="4A6080"/>
                </a:solidFill>
                <a:latin typeface="Calibri"/>
                <a:ea typeface="Calibri"/>
                <a:cs typeface="Calibri"/>
                <a:sym typeface="Calibri"/>
              </a:rPr>
              <a:t>13 / 14</a:t>
            </a:r>
            <a:endParaRPr sz="900">
              <a:solidFill>
                <a:schemeClr val="dk1"/>
              </a:solidFill>
              <a:latin typeface="Calibri"/>
              <a:ea typeface="Calibri"/>
              <a:cs typeface="Calibri"/>
              <a:sym typeface="Calibri"/>
            </a:endParaRPr>
          </a:p>
        </p:txBody>
      </p:sp>
      <p:pic>
        <p:nvPicPr>
          <p:cNvPr descr="preencoded.png" id="357" name="Google Shape;357;p14"/>
          <p:cNvPicPr preferRelativeResize="0"/>
          <p:nvPr/>
        </p:nvPicPr>
        <p:blipFill rotWithShape="1">
          <a:blip r:embed="rId3">
            <a:alphaModFix/>
          </a:blip>
          <a:srcRect b="0" l="0" r="0" t="0"/>
          <a:stretch/>
        </p:blipFill>
        <p:spPr>
          <a:xfrm>
            <a:off x="4160520" y="548640"/>
            <a:ext cx="822960" cy="822960"/>
          </a:xfrm>
          <a:prstGeom prst="rect">
            <a:avLst/>
          </a:prstGeom>
          <a:noFill/>
          <a:ln>
            <a:noFill/>
          </a:ln>
        </p:spPr>
      </p:pic>
      <p:sp>
        <p:nvSpPr>
          <p:cNvPr id="358" name="Google Shape;358;p14"/>
          <p:cNvSpPr/>
          <p:nvPr/>
        </p:nvSpPr>
        <p:spPr>
          <a:xfrm>
            <a:off x="457200" y="150876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800"/>
              <a:buFont typeface="Trebuchet MS"/>
              <a:buNone/>
            </a:pPr>
            <a:r>
              <a:rPr b="1" lang="en-US" sz="3800">
                <a:solidFill>
                  <a:srgbClr val="FFFFFF"/>
                </a:solidFill>
                <a:latin typeface="Trebuchet MS"/>
                <a:ea typeface="Trebuchet MS"/>
                <a:cs typeface="Trebuchet MS"/>
                <a:sym typeface="Trebuchet MS"/>
              </a:rPr>
              <a:t>¿Preguntas?</a:t>
            </a:r>
            <a:endParaRPr sz="3800">
              <a:solidFill>
                <a:schemeClr val="dk1"/>
              </a:solidFill>
              <a:latin typeface="Calibri"/>
              <a:ea typeface="Calibri"/>
              <a:cs typeface="Calibri"/>
              <a:sym typeface="Calibri"/>
            </a:endParaRPr>
          </a:p>
        </p:txBody>
      </p:sp>
      <p:sp>
        <p:nvSpPr>
          <p:cNvPr id="359" name="Google Shape;359;p14"/>
          <p:cNvSpPr/>
          <p:nvPr/>
        </p:nvSpPr>
        <p:spPr>
          <a:xfrm>
            <a:off x="457200" y="2240280"/>
            <a:ext cx="82296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CAE6"/>
              </a:buClr>
              <a:buSzPts val="1800"/>
              <a:buFont typeface="Calibri"/>
              <a:buNone/>
            </a:pPr>
            <a:r>
              <a:rPr i="1" lang="en-US" sz="1800">
                <a:solidFill>
                  <a:srgbClr val="8ECAE6"/>
                </a:solidFill>
                <a:latin typeface="Calibri"/>
                <a:ea typeface="Calibri"/>
                <a:cs typeface="Calibri"/>
                <a:sym typeface="Calibri"/>
              </a:rPr>
              <a:t>Gracias por su atención</a:t>
            </a:r>
            <a:endParaRPr sz="1800">
              <a:solidFill>
                <a:schemeClr val="dk1"/>
              </a:solidFill>
              <a:latin typeface="Calibri"/>
              <a:ea typeface="Calibri"/>
              <a:cs typeface="Calibri"/>
              <a:sym typeface="Calibri"/>
            </a:endParaRPr>
          </a:p>
        </p:txBody>
      </p:sp>
      <p:sp>
        <p:nvSpPr>
          <p:cNvPr id="360" name="Google Shape;360;p14"/>
          <p:cNvSpPr/>
          <p:nvPr/>
        </p:nvSpPr>
        <p:spPr>
          <a:xfrm>
            <a:off x="2743200" y="2788920"/>
            <a:ext cx="3657600" cy="36576"/>
          </a:xfrm>
          <a:prstGeom prst="rect">
            <a:avLst/>
          </a:prstGeom>
          <a:solidFill>
            <a:srgbClr val="00897B"/>
          </a:solidFill>
          <a:ln cap="flat" cmpd="sng" w="12700">
            <a:solidFill>
              <a:srgbClr val="00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p:nvPr/>
        </p:nvSpPr>
        <p:spPr>
          <a:xfrm>
            <a:off x="914400" y="2971800"/>
            <a:ext cx="1645920" cy="914400"/>
          </a:xfrm>
          <a:prstGeom prst="rect">
            <a:avLst/>
          </a:prstGeom>
          <a:solidFill>
            <a:srgbClr val="0A1929"/>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4"/>
          <p:cNvSpPr/>
          <p:nvPr/>
        </p:nvSpPr>
        <p:spPr>
          <a:xfrm>
            <a:off x="914400" y="3035808"/>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500"/>
              <a:buFont typeface="Trebuchet MS"/>
              <a:buNone/>
            </a:pPr>
            <a:r>
              <a:rPr b="1" lang="en-US" sz="1500">
                <a:solidFill>
                  <a:srgbClr val="F9A825"/>
                </a:solidFill>
                <a:latin typeface="Trebuchet MS"/>
                <a:ea typeface="Trebuchet MS"/>
                <a:cs typeface="Trebuchet MS"/>
                <a:sym typeface="Trebuchet MS"/>
              </a:rPr>
              <a:t>R²=0.987</a:t>
            </a:r>
            <a:endParaRPr sz="1500">
              <a:solidFill>
                <a:schemeClr val="dk1"/>
              </a:solidFill>
              <a:latin typeface="Calibri"/>
              <a:ea typeface="Calibri"/>
              <a:cs typeface="Calibri"/>
              <a:sym typeface="Calibri"/>
            </a:endParaRPr>
          </a:p>
        </p:txBody>
      </p:sp>
      <p:sp>
        <p:nvSpPr>
          <p:cNvPr id="363" name="Google Shape;363;p14"/>
          <p:cNvSpPr/>
          <p:nvPr/>
        </p:nvSpPr>
        <p:spPr>
          <a:xfrm>
            <a:off x="914400" y="3493008"/>
            <a:ext cx="16459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00"/>
              <a:buFont typeface="Calibri"/>
              <a:buNone/>
            </a:pPr>
            <a:r>
              <a:rPr lang="en-US" sz="1000">
                <a:solidFill>
                  <a:srgbClr val="CBD5E1"/>
                </a:solidFill>
                <a:latin typeface="Calibri"/>
                <a:ea typeface="Calibri"/>
                <a:cs typeface="Calibri"/>
                <a:sym typeface="Calibri"/>
              </a:rPr>
              <a:t>Regresión</a:t>
            </a:r>
            <a:endParaRPr sz="1000">
              <a:solidFill>
                <a:schemeClr val="dk1"/>
              </a:solidFill>
              <a:latin typeface="Calibri"/>
              <a:ea typeface="Calibri"/>
              <a:cs typeface="Calibri"/>
              <a:sym typeface="Calibri"/>
            </a:endParaRPr>
          </a:p>
        </p:txBody>
      </p:sp>
      <p:sp>
        <p:nvSpPr>
          <p:cNvPr id="364" name="Google Shape;364;p14"/>
          <p:cNvSpPr/>
          <p:nvPr/>
        </p:nvSpPr>
        <p:spPr>
          <a:xfrm>
            <a:off x="2834640" y="2971800"/>
            <a:ext cx="1645920" cy="914400"/>
          </a:xfrm>
          <a:prstGeom prst="rect">
            <a:avLst/>
          </a:prstGeom>
          <a:solidFill>
            <a:srgbClr val="0A1929"/>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2834640" y="3035808"/>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500"/>
              <a:buFont typeface="Trebuchet MS"/>
              <a:buNone/>
            </a:pPr>
            <a:r>
              <a:rPr b="1" lang="en-US" sz="1500">
                <a:solidFill>
                  <a:srgbClr val="F9A825"/>
                </a:solidFill>
                <a:latin typeface="Trebuchet MS"/>
                <a:ea typeface="Trebuchet MS"/>
                <a:cs typeface="Trebuchet MS"/>
                <a:sym typeface="Trebuchet MS"/>
              </a:rPr>
              <a:t>MAPE 2.73%</a:t>
            </a:r>
            <a:endParaRPr sz="1500">
              <a:solidFill>
                <a:schemeClr val="dk1"/>
              </a:solidFill>
              <a:latin typeface="Calibri"/>
              <a:ea typeface="Calibri"/>
              <a:cs typeface="Calibri"/>
              <a:sym typeface="Calibri"/>
            </a:endParaRPr>
          </a:p>
        </p:txBody>
      </p:sp>
      <p:sp>
        <p:nvSpPr>
          <p:cNvPr id="366" name="Google Shape;366;p14"/>
          <p:cNvSpPr/>
          <p:nvPr/>
        </p:nvSpPr>
        <p:spPr>
          <a:xfrm>
            <a:off x="2834640" y="3493008"/>
            <a:ext cx="16459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00"/>
              <a:buFont typeface="Calibri"/>
              <a:buNone/>
            </a:pPr>
            <a:r>
              <a:rPr lang="en-US" sz="1000">
                <a:solidFill>
                  <a:srgbClr val="CBD5E1"/>
                </a:solidFill>
                <a:latin typeface="Calibri"/>
                <a:ea typeface="Calibri"/>
                <a:cs typeface="Calibri"/>
                <a:sym typeface="Calibri"/>
              </a:rPr>
              <a:t>Precisión</a:t>
            </a:r>
            <a:endParaRPr sz="1000">
              <a:solidFill>
                <a:schemeClr val="dk1"/>
              </a:solidFill>
              <a:latin typeface="Calibri"/>
              <a:ea typeface="Calibri"/>
              <a:cs typeface="Calibri"/>
              <a:sym typeface="Calibri"/>
            </a:endParaRPr>
          </a:p>
        </p:txBody>
      </p:sp>
      <p:sp>
        <p:nvSpPr>
          <p:cNvPr id="367" name="Google Shape;367;p14"/>
          <p:cNvSpPr/>
          <p:nvPr/>
        </p:nvSpPr>
        <p:spPr>
          <a:xfrm>
            <a:off x="4754880" y="2971800"/>
            <a:ext cx="1645920" cy="914400"/>
          </a:xfrm>
          <a:prstGeom prst="rect">
            <a:avLst/>
          </a:prstGeom>
          <a:solidFill>
            <a:srgbClr val="0A1929"/>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4754880" y="3035808"/>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500"/>
              <a:buFont typeface="Trebuchet MS"/>
              <a:buNone/>
            </a:pPr>
            <a:r>
              <a:rPr b="1" lang="en-US" sz="1500">
                <a:solidFill>
                  <a:srgbClr val="F9A825"/>
                </a:solidFill>
                <a:latin typeface="Trebuchet MS"/>
                <a:ea typeface="Trebuchet MS"/>
                <a:cs typeface="Trebuchet MS"/>
                <a:sym typeface="Trebuchet MS"/>
              </a:rPr>
              <a:t>R₀ 0.966</a:t>
            </a:r>
            <a:endParaRPr sz="1500">
              <a:solidFill>
                <a:schemeClr val="dk1"/>
              </a:solidFill>
              <a:latin typeface="Calibri"/>
              <a:ea typeface="Calibri"/>
              <a:cs typeface="Calibri"/>
              <a:sym typeface="Calibri"/>
            </a:endParaRPr>
          </a:p>
        </p:txBody>
      </p:sp>
      <p:sp>
        <p:nvSpPr>
          <p:cNvPr id="369" name="Google Shape;369;p14"/>
          <p:cNvSpPr/>
          <p:nvPr/>
        </p:nvSpPr>
        <p:spPr>
          <a:xfrm>
            <a:off x="4754880" y="3493008"/>
            <a:ext cx="16459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00"/>
              <a:buFont typeface="Calibri"/>
              <a:buNone/>
            </a:pPr>
            <a:r>
              <a:rPr lang="en-US" sz="1000">
                <a:solidFill>
                  <a:srgbClr val="CBD5E1"/>
                </a:solidFill>
                <a:latin typeface="Calibri"/>
                <a:ea typeface="Calibri"/>
                <a:cs typeface="Calibri"/>
                <a:sym typeface="Calibri"/>
              </a:rPr>
              <a:t>SIR</a:t>
            </a:r>
            <a:endParaRPr sz="1000">
              <a:solidFill>
                <a:schemeClr val="dk1"/>
              </a:solidFill>
              <a:latin typeface="Calibri"/>
              <a:ea typeface="Calibri"/>
              <a:cs typeface="Calibri"/>
              <a:sym typeface="Calibri"/>
            </a:endParaRPr>
          </a:p>
        </p:txBody>
      </p:sp>
      <p:sp>
        <p:nvSpPr>
          <p:cNvPr id="370" name="Google Shape;370;p14"/>
          <p:cNvSpPr/>
          <p:nvPr/>
        </p:nvSpPr>
        <p:spPr>
          <a:xfrm>
            <a:off x="6675120" y="2971800"/>
            <a:ext cx="1645920" cy="914400"/>
          </a:xfrm>
          <a:prstGeom prst="rect">
            <a:avLst/>
          </a:prstGeom>
          <a:solidFill>
            <a:srgbClr val="0A1929"/>
          </a:solidFill>
          <a:ln cap="flat" cmpd="sng" w="12700">
            <a:solidFill>
              <a:srgbClr val="24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6675120" y="3035808"/>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500"/>
              <a:buFont typeface="Trebuchet MS"/>
              <a:buNone/>
            </a:pPr>
            <a:r>
              <a:rPr b="1" lang="en-US" sz="1500">
                <a:solidFill>
                  <a:srgbClr val="F9A825"/>
                </a:solidFill>
                <a:latin typeface="Trebuchet MS"/>
                <a:ea typeface="Trebuchet MS"/>
                <a:cs typeface="Trebuchet MS"/>
                <a:sym typeface="Trebuchet MS"/>
              </a:rPr>
              <a:t>5.1 M</a:t>
            </a:r>
            <a:endParaRPr sz="1500">
              <a:solidFill>
                <a:schemeClr val="dk1"/>
              </a:solidFill>
              <a:latin typeface="Calibri"/>
              <a:ea typeface="Calibri"/>
              <a:cs typeface="Calibri"/>
              <a:sym typeface="Calibri"/>
            </a:endParaRPr>
          </a:p>
        </p:txBody>
      </p:sp>
      <p:sp>
        <p:nvSpPr>
          <p:cNvPr id="372" name="Google Shape;372;p14"/>
          <p:cNvSpPr/>
          <p:nvPr/>
        </p:nvSpPr>
        <p:spPr>
          <a:xfrm>
            <a:off x="6675120" y="3493008"/>
            <a:ext cx="16459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000"/>
              <a:buFont typeface="Calibri"/>
              <a:buNone/>
            </a:pPr>
            <a:r>
              <a:rPr lang="en-US" sz="1000">
                <a:solidFill>
                  <a:srgbClr val="CBD5E1"/>
                </a:solidFill>
                <a:latin typeface="Calibri"/>
                <a:ea typeface="Calibri"/>
                <a:cs typeface="Calibri"/>
                <a:sym typeface="Calibri"/>
              </a:rPr>
              <a:t>Casos Col.</a:t>
            </a:r>
            <a:endParaRPr sz="1000">
              <a:solidFill>
                <a:schemeClr val="dk1"/>
              </a:solidFill>
              <a:latin typeface="Calibri"/>
              <a:ea typeface="Calibri"/>
              <a:cs typeface="Calibri"/>
              <a:sym typeface="Calibri"/>
            </a:endParaRPr>
          </a:p>
        </p:txBody>
      </p:sp>
      <p:sp>
        <p:nvSpPr>
          <p:cNvPr id="373" name="Google Shape;373;p14"/>
          <p:cNvSpPr/>
          <p:nvPr/>
        </p:nvSpPr>
        <p:spPr>
          <a:xfrm>
            <a:off x="457200" y="420624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5A72"/>
              </a:buClr>
              <a:buSzPts val="1000"/>
              <a:buFont typeface="Calibri"/>
              <a:buNone/>
            </a:pPr>
            <a:r>
              <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2026-05-12T00:47:06Z</dcterms:created>
  <dc:creator>PptxGenJS</dc:creator>
</cp:coreProperties>
</file>